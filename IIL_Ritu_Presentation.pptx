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4f53ec340a41ee" /><Relationship Type="http://schemas.openxmlformats.org/officeDocument/2006/relationships/extended-properties" Target="/docProps/app.xml" Id="Rbe8836e4ccf84c0a" /><Relationship Type="http://schemas.openxmlformats.org/officeDocument/2006/relationships/officeDocument" Target="/ppt/presentation.xml" Id="Rfd91177d90444ba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e87ec26a3cb49f1"/>
  </p:sldMasterIdLst>
  <p:notesMasterIdLst>
    <p:notesMasterId xmlns:r="http://schemas.openxmlformats.org/officeDocument/2006/relationships" r:id="R8bf9bdd2659f420c"/>
  </p:notesMasterIdLst>
  <p:sldIdLst>
    <p:sldId xmlns:r="http://schemas.openxmlformats.org/officeDocument/2006/relationships" id="256" r:id="R407a28770d2e4e09"/>
    <p:sldId xmlns:r="http://schemas.openxmlformats.org/officeDocument/2006/relationships" id="257" r:id="Ra556059f36a84ade"/>
    <p:sldId xmlns:r="http://schemas.openxmlformats.org/officeDocument/2006/relationships" id="258" r:id="Re9bd2942356a4362"/>
    <p:sldId xmlns:r="http://schemas.openxmlformats.org/officeDocument/2006/relationships" id="259" r:id="Ree54a48803bb4973"/>
    <p:sldId xmlns:r="http://schemas.openxmlformats.org/officeDocument/2006/relationships" id="260" r:id="Rfb66305d5dbe43e2"/>
    <p:sldId xmlns:r="http://schemas.openxmlformats.org/officeDocument/2006/relationships" id="261" r:id="R38d22820a5a7411d"/>
    <p:sldId xmlns:r="http://schemas.openxmlformats.org/officeDocument/2006/relationships" id="262" r:id="R59985db978bc4900"/>
    <p:sldId xmlns:r="http://schemas.openxmlformats.org/officeDocument/2006/relationships" id="263" r:id="Rc7039870a5b149b8"/>
    <p:sldId xmlns:r="http://schemas.openxmlformats.org/officeDocument/2006/relationships" id="264" r:id="R9fc99ce9906c4a94"/>
    <p:sldId xmlns:r="http://schemas.openxmlformats.org/officeDocument/2006/relationships" id="265" r:id="Reedd7f55c037461b"/>
    <p:sldId xmlns:r="http://schemas.openxmlformats.org/officeDocument/2006/relationships" id="266" r:id="Rde64656b775149ac"/>
    <p:sldId xmlns:r="http://schemas.openxmlformats.org/officeDocument/2006/relationships" id="267" r:id="R3647606824ee42aa"/>
    <p:sldId xmlns:r="http://schemas.openxmlformats.org/officeDocument/2006/relationships" id="268" r:id="Rc0405f05fe804a8e"/>
    <p:sldId xmlns:r="http://schemas.openxmlformats.org/officeDocument/2006/relationships" id="269" r:id="R438fdecadf694ce5"/>
    <p:sldId xmlns:r="http://schemas.openxmlformats.org/officeDocument/2006/relationships" id="270" r:id="Rdc147192b1784a8e"/>
    <p:sldId xmlns:r="http://schemas.openxmlformats.org/officeDocument/2006/relationships" id="271" r:id="R31af0422ad104cf8"/>
    <p:sldId xmlns:r="http://schemas.openxmlformats.org/officeDocument/2006/relationships" id="272" r:id="R4b5243a3e00d45b4"/>
    <p:sldId xmlns:r="http://schemas.openxmlformats.org/officeDocument/2006/relationships" id="273" r:id="Rc12d0d63003a45d8"/>
  </p:sldIdLst>
  <p:sldSz cx="12192000" cy="6858000"/>
  <p:notesSz cx="6858000" cy="9144000"/>
  <p:embeddedFontLst>
    <p:embeddedFont>
      <p:font typeface="OpenAI Sans"/>
      <p:regular xmlns:r="http://schemas.openxmlformats.org/officeDocument/2006/relationships" r:id="R8efb5c25c9da4707"/>
      <p:bold xmlns:r="http://schemas.openxmlformats.org/officeDocument/2006/relationships" r:id="R804f06f656e54964"/>
      <p:italic xmlns:r="http://schemas.openxmlformats.org/officeDocument/2006/relationships" r:id="R2ccc481513d24c2a"/>
      <p:boldItalic xmlns:r="http://schemas.openxmlformats.org/officeDocument/2006/relationships" r:id="R01a325d537a243b9"/>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f1109af0df64280" /><Relationship Type="http://schemas.openxmlformats.org/officeDocument/2006/relationships/slideMaster" Target="/ppt/slideMasters/slideMaster1.xml" Id="R1e87ec26a3cb49f1" /><Relationship Type="http://schemas.openxmlformats.org/officeDocument/2006/relationships/notesMaster" Target="/ppt/notesMasters/notesMaster1.xml" Id="R8bf9bdd2659f420c" /><Relationship Type="http://schemas.openxmlformats.org/officeDocument/2006/relationships/presProps" Target="/ppt/presProps.xml" Id="R204225b293b449c5" /><Relationship Type="http://schemas.openxmlformats.org/officeDocument/2006/relationships/viewProps" Target="/ppt/viewProps.xml" Id="Rb76d16aa7cd14155" /><Relationship Type="http://schemas.openxmlformats.org/officeDocument/2006/relationships/tableStyles" Target="/ppt/tableStyles.xml" Id="R991fe909518d49d3" /><Relationship Type="http://schemas.openxmlformats.org/officeDocument/2006/relationships/font" Target="/ppt/fonts/font.dat" Id="R8efb5c25c9da4707" /><Relationship Type="http://schemas.openxmlformats.org/officeDocument/2006/relationships/font" Target="/ppt/fonts/font2.dat" Id="R804f06f656e54964" /><Relationship Type="http://schemas.openxmlformats.org/officeDocument/2006/relationships/font" Target="/ppt/fonts/font3.dat" Id="R2ccc481513d24c2a" /><Relationship Type="http://schemas.openxmlformats.org/officeDocument/2006/relationships/font" Target="/ppt/fonts/font4.dat" Id="R01a325d537a243b9" /><Relationship Type="http://schemas.openxmlformats.org/officeDocument/2006/relationships/slide" Target="/ppt/slides/slide1.xml" Id="R407a28770d2e4e09" /><Relationship Type="http://schemas.openxmlformats.org/officeDocument/2006/relationships/slide" Target="/ppt/slides/slide2.xml" Id="Ra556059f36a84ade" /><Relationship Type="http://schemas.openxmlformats.org/officeDocument/2006/relationships/slide" Target="/ppt/slides/slide3.xml" Id="Re9bd2942356a4362" /><Relationship Type="http://schemas.openxmlformats.org/officeDocument/2006/relationships/slide" Target="/ppt/slides/slide4.xml" Id="Ree54a48803bb4973" /><Relationship Type="http://schemas.openxmlformats.org/officeDocument/2006/relationships/slide" Target="/ppt/slides/slide5.xml" Id="Rfb66305d5dbe43e2" /><Relationship Type="http://schemas.openxmlformats.org/officeDocument/2006/relationships/slide" Target="/ppt/slides/slide6.xml" Id="R38d22820a5a7411d" /><Relationship Type="http://schemas.openxmlformats.org/officeDocument/2006/relationships/slide" Target="/ppt/slides/slide7.xml" Id="R59985db978bc4900" /><Relationship Type="http://schemas.openxmlformats.org/officeDocument/2006/relationships/slide" Target="/ppt/slides/slide8.xml" Id="Rc7039870a5b149b8" /><Relationship Type="http://schemas.openxmlformats.org/officeDocument/2006/relationships/slide" Target="/ppt/slides/slide9.xml" Id="R9fc99ce9906c4a94" /><Relationship Type="http://schemas.openxmlformats.org/officeDocument/2006/relationships/slide" Target="/ppt/slides/slide10.xml" Id="Reedd7f55c037461b" /><Relationship Type="http://schemas.openxmlformats.org/officeDocument/2006/relationships/slide" Target="/ppt/slides/slide11.xml" Id="Rde64656b775149ac" /><Relationship Type="http://schemas.openxmlformats.org/officeDocument/2006/relationships/slide" Target="/ppt/slides/slide12.xml" Id="R3647606824ee42aa" /><Relationship Type="http://schemas.openxmlformats.org/officeDocument/2006/relationships/slide" Target="/ppt/slides/slide13.xml" Id="Rc0405f05fe804a8e" /><Relationship Type="http://schemas.openxmlformats.org/officeDocument/2006/relationships/slide" Target="/ppt/slides/slide14.xml" Id="R438fdecadf694ce5" /><Relationship Type="http://schemas.openxmlformats.org/officeDocument/2006/relationships/slide" Target="/ppt/slides/slide15.xml" Id="Rdc147192b1784a8e" /><Relationship Type="http://schemas.openxmlformats.org/officeDocument/2006/relationships/slide" Target="/ppt/slides/slide16.xml" Id="R31af0422ad104cf8" /><Relationship Type="http://schemas.openxmlformats.org/officeDocument/2006/relationships/slide" Target="/ppt/slides/slide17.xml" Id="R4b5243a3e00d45b4" /><Relationship Type="http://schemas.openxmlformats.org/officeDocument/2006/relationships/slide" Target="/ppt/slides/slide18.xml" Id="Rc12d0d63003a45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4af92ed16740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67f140245f432e" /><Relationship Type="http://schemas.openxmlformats.org/officeDocument/2006/relationships/notesMaster" Target="/ppt/notesMasters/notesMaster1.xml" Id="Rded470ff188041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7d2fa203194bb1" /><Relationship Type="http://schemas.openxmlformats.org/officeDocument/2006/relationships/notesMaster" Target="/ppt/notesMasters/notesMaster1.xml" Id="R849d5e614c3441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8f0aedd05b421d" /><Relationship Type="http://schemas.openxmlformats.org/officeDocument/2006/relationships/notesMaster" Target="/ppt/notesMasters/notesMaster1.xml" Id="Re24d60c416644f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05c08c7574401b" /><Relationship Type="http://schemas.openxmlformats.org/officeDocument/2006/relationships/notesMaster" Target="/ppt/notesMasters/notesMaster1.xml" Id="Radfd8434f1274b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80eb879a304c53" /><Relationship Type="http://schemas.openxmlformats.org/officeDocument/2006/relationships/notesMaster" Target="/ppt/notesMasters/notesMaster1.xml" Id="Rbbf6cea81c8444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49c3532d214f63" /><Relationship Type="http://schemas.openxmlformats.org/officeDocument/2006/relationships/notesMaster" Target="/ppt/notesMasters/notesMaster1.xml" Id="R9ee1a8fb84ab48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1363742b884cbf" /><Relationship Type="http://schemas.openxmlformats.org/officeDocument/2006/relationships/notesMaster" Target="/ppt/notesMasters/notesMaster1.xml" Id="R94ceb23d239d4b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d459bf98c645d2" /><Relationship Type="http://schemas.openxmlformats.org/officeDocument/2006/relationships/notesMaster" Target="/ppt/notesMasters/notesMaster1.xml" Id="R6aa56e94f50a43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fdac119c50474c" /><Relationship Type="http://schemas.openxmlformats.org/officeDocument/2006/relationships/notesMaster" Target="/ppt/notesMasters/notesMaster1.xml" Id="Rd8810e7d5edd43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9ab2195daf4fcf" /><Relationship Type="http://schemas.openxmlformats.org/officeDocument/2006/relationships/notesMaster" Target="/ppt/notesMasters/notesMaster1.xml" Id="R22b06ff22ed54a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2950a9f6014de6" /><Relationship Type="http://schemas.openxmlformats.org/officeDocument/2006/relationships/notesMaster" Target="/ppt/notesMasters/notesMaster1.xml" Id="R18798280e6ad48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a50fdd6a40433f" /><Relationship Type="http://schemas.openxmlformats.org/officeDocument/2006/relationships/notesMaster" Target="/ppt/notesMasters/notesMaster1.xml" Id="Rb6d67358e01245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fb36cf671e64c26" /><Relationship Type="http://schemas.openxmlformats.org/officeDocument/2006/relationships/notesMaster" Target="/ppt/notesMasters/notesMaster1.xml" Id="Re494da840bda4e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2d04aac236485a" /><Relationship Type="http://schemas.openxmlformats.org/officeDocument/2006/relationships/notesMaster" Target="/ppt/notesMasters/notesMaster1.xml" Id="Rb6b3481102b642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bcfcfb8f344d56" /><Relationship Type="http://schemas.openxmlformats.org/officeDocument/2006/relationships/notesMaster" Target="/ppt/notesMasters/notesMaster1.xml" Id="Rc4ccbf90022545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aa15e1767e44256" /><Relationship Type="http://schemas.openxmlformats.org/officeDocument/2006/relationships/notesMaster" Target="/ppt/notesMasters/notesMaster1.xml" Id="R9537d577ca1943d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432a93e3f34588" /><Relationship Type="http://schemas.openxmlformats.org/officeDocument/2006/relationships/notesMaster" Target="/ppt/notesMasters/notesMaster1.xml" Id="Raf60cfa05f4046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4cf975c1a0404b" /><Relationship Type="http://schemas.openxmlformats.org/officeDocument/2006/relationships/notesMaster" Target="/ppt/notesMasters/notesMaster1.xml" Id="R5aca31b28fdf4c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My paper examines the sources of international investment law and how they work together. I will explain the protections offered by investment treaties, the procedures for resolving disputes, and the role of customary law and policy. The recurring question is how the system balances foreign-investor protection with the host state's authority to regulate.</a:t>
            </a:r>
            <a:endParaRPr/>
          </a:p>
          <a:p xmlns:a="http://schemas.openxmlformats.org/drawingml/2006/main">
            <a:r>
              <a:t/>
            </a:r>
            <a:endParaRPr/>
          </a:p>
          <a:p xmlns:a="http://schemas.openxmlformats.org/drawingml/2006/main">
            <a:r>
              <a:t>Source: supplied paper, Comprehensive Analysis of the Sources of International Investment Law, by Ritu Bhushan Prasad Tiwari.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International investment law governs the relationship between a host state and a foreign investor. Protection matters because an investment may depend on permits, courts and government decisions over a long period. The host state also needs to make legitimate public-policy choices. A regulation does not automatically breach a treaty. The legal question depends on the treaty's wording and the facts. This balance connects all the sources discussed in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supplied paper, introduction and conclusion.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describes an interconnected legal framework, but the instruments have different legal force. Treaties create obligations through state consent. Customary law rests on general practice accepted as law, while general principles form another category of source under Article 38 of the ICJ Statute. Arbitration awards help interpret and apply these rules. They do not create a universal binding precedent. Soft law can influence a treaty without being binding on its own.</a:t>
            </a:r>
          </a:p>
          <a:p xmlns:a="http://schemas.openxmlformats.org/drawingml/2006/main">
            <a:r>
              <a:t/>
            </a:r>
          </a:p>
          <a:p xmlns:a="http://schemas.openxmlformats.org/drawingml/2006/main">
            <a:r>
              <a:t>Sources: supplied paper, sections 1–7. ICJ Statute, Article 38(1): https://www.icj-cij.org/statute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bilateral investment treaty is an agreement between two states. It protects investors and investments that meet its definitions and conditions. The Germany–Pakistan treaty of 1959 marks the beginning of the modern BIT era described in the paper. These four protections recur across treaties, but they are not identical in every instrument. FET can be autonomous or linked to the customary minimum standard. National treatment and MFN use different comparators.</a:t>
            </a:r>
          </a:p>
          <a:p xmlns:a="http://schemas.openxmlformats.org/drawingml/2006/main">
            <a:r>
              <a:t/>
            </a:r>
          </a:p>
          <a:p xmlns:a="http://schemas.openxmlformats.org/drawingml/2006/main">
            <a:r>
              <a:t>Sources: supplied paper, section 1. UNCTAD, Fair and Equitable Treatment: https://unctad.org/system/files/official-document/unctaddiaeia2011d5_en.pdf . World Bank Guidelines, section III, treatment, and section IV, expropriation.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cases illustrate how tribunals apply treaty protections to regulatory decisions. Tecmed's interpretation of FET is influential, but should not be treated as a rule that governments must freeze regulation. In Metalclad, the tribunal initially addressed municipal conduct and a later ecological decree. The British Columbia court partly set aside the award, while the decree-based finding of expropriation survived. Both examples show why treaty text, facts and later case history matter.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Tecmed v Mexico, Award, 29 May 2003, especially paragraph 154: https://www.italaw.com/sites/default/files/case-documents/ita0854.pdf . Metalclad v Mexico, Award, 30 August 2000, paragraphs 103–111: https://www.italaw.com/sites/default/files/case-documents/ita0510.pdf . United Mexican States v Metalclad, 2001 BCSC 664, paragraphs 105 and 133–137: https://italaw.com/sites/default/files/case-documents/ita0512.pdf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ISDS means investor-state dispute settlement. It changes who can initiate an international claim: the investor can act directly when the relevant consent and jurisdictional conditions are satisfied. A BIT does not automatically give every investor access to every arbitration forum. The particular treaty may require notice, negotiation, local proceedings or other steps. The distinction between substantive rights and a permitted route to enforce them is important for the conventions discussed later.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supplied paper, section 1, ISDS. ICSID Convention, Articles 25–26: https://icsid.worldbank.org/rules-regulations/convention/icsid-convention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Distinguish the two arbitrations. The first was a commercial dispute involving Coal India. The second was an investment-treaty claim against India. White Industries used the MFN clause to rely on the effective-means obligation found in another Indian treaty. The tribunal's adverse finding concerned undue delay in the set-aside proceedings, including the unresolved jurisdictional appeal. It did not find every enforcement delay to be a treaty breach. The case forms part of the context for India's later treaty-policy reconsideration.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White Industries Australia Limited v Republic of India, Final Award, 30 November 2011, paragraphs 11.2.1–11.2.9, 11.4.15 and 11.4.19–11.4.20: https://www.italaw.com/sites/default/files/case-documents/ita0906.pdf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India's Cabinet approved the revised model in December 2015. Article 1.4 adopts an enterprise-based investment definition. Article 3.1 lists denial of justice, fundamental breach of due process, targeted discrimination on manifestly unjustified grounds, and manifestly abusive treatment. Article 15.1 requires domestic proceedings concerning the same measure or similar facts, with an exception where no available domestic remedy can reasonably provide any relief. Article 15.2 measures the five-year period from first knowledge of the measure, rather than simply five years spent in court. Notice, a period for amicable resolution and other conditions also apply. Actual treaty texts determine the rights of particular investors.</a:t>
            </a:r>
          </a:p>
          <a:p xmlns:a="http://schemas.openxmlformats.org/drawingml/2006/main">
            <a:r>
              <a:t/>
            </a:r>
          </a:p>
          <a:p xmlns:a="http://schemas.openxmlformats.org/drawingml/2006/main">
            <a:r>
              <a:t>Sources: Government of India Model BIT, Articles 1.4, 3.1 and 15.1–15.5: https://dea.gov.in/files/other_reports_documents/ModelTextIndia_BIT.pdf . Government Cabinet announcement, 16 December 2015: https://www.pib.gov.in/newsite/PrintRelease.aspx?lang=2&amp;reg=48&amp;relid=133412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paper explains that efforts to create a comprehensive global investment treaty, including the OECD's Multilateral Agreement on Investment, did not produce a concluded treaty. More limited frameworks developed instead. The ECT is a sector-specific example. Eiser concerned changes to the financial framework for concentrated solar-power investments. Its original merits finding illustrates the controversy, but the award was annulled in full on 11 June 2020. Climate policy, treaty reform and withdrawal debates also illustrate the ongoing concern about regulatory space.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ECT text, Articles 10, 13 and 26: https://www.energycharter.org/fileadmin/DocumentsMedia/Legal/1994_ECT.pdf . Eiser v Spain, Decision on Annulment, 11 June 2020, paragraphs 239–255 and 276: https://www.energychartertreaty.org/fileadmin/DocumentsMedia/Cases/53_Eiser_Infrastructure/ICSID_Annulment_decision__ENG_.pdf .</a:t>
            </a:r>
            <a:endParaRPr/>
          </a:p>
          <a:p xmlns:a="http://schemas.openxmlformats.org/drawingml/2006/main">
            <a:pPr marL="0" lvl="0" indent="0" algn="l">
              <a:spcBef>
                <a:spcPts val="0"/>
              </a:spcBef>
              <a:spcAft>
                <a:spcPts val="0"/>
              </a:spcAft>
              <a:buNone/>
            </a:pPr>
            <a:r>
              <a:t>European Commission, Energy Charter, context on climate policy and withdrawals: https://energy.ec.europa.eu/topics/international-cooperation/international-organisations-and-initiatives/energy-charter_en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Investment law also develops within broader trade agreements. NAFTA Chapter 11 was an important earlier example. Under USMCA, the continuing ISDS arrangements principally concern the United States and Mexico, with different rules for specified government contracts. Canada is not a party to those continuing mechanisms, and legacy claims had separate transitional rules. CPTPP uses another investment framework, including Article 9.16 on environmental, health and other regulatory objectives. That provision does not give a blanket exemption from all investment obligations.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USMCA, Chapter 14 and Annexes 14-D and 14-E: https://ustr.gov/sites/default/files/files/agreements/FTA/USMCA/Text/14-Investment.pdf . CPTPP investment chapter, Articles 9.6, 9.8 and 9.16 and Annex 9-B: https://www.mfat.govt.nz/assets/Trade-agreements/TPP/Text-ENGLISH/9.-Investment-Chapter.pdf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ICSID means the International Centre for Settlement of Investment Disputes. The 1965 Convention creates a self-contained system for Convention arbitration. Article 25 requires a legal dispute arising directly out of an investment, a contracting state and a national of another contracting state, and consent in writing. Article 52 provides limited annulment, not a merits appeal. Article 54 refers to a final judgment of a court in the enforcing state, not specifically its highest court. Article 54(3) leaves execution to domestic law, and Article 55 preserves immunity from execution. These rules distinguish legal enforceability from actual recovery.</a:t>
            </a:r>
          </a:p>
          <a:p xmlns:a="http://schemas.openxmlformats.org/drawingml/2006/main">
            <a:r>
              <a:t/>
            </a:r>
          </a:p>
          <a:p xmlns:a="http://schemas.openxmlformats.org/drawingml/2006/main">
            <a:r>
              <a:t>Source: ICSID Convention, Articles 25, 52, 53, 54 and 55: https://icsid.worldbank.org/rules-regulations/convention/icsid-convention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Non-ICSID investment arbitrations, including many conducted under UNCITRAL rules, generally have a legal seat. Courts there supervise arbitration under the seat's law. The New York Convention supports recognition and enforcement elsewhere. Article V sets out refusal grounds, including invalidity of the agreement, lack of proper notice, excess of authority, certain procedural defects, and an award that is not binding or has been set aside or suspended. Article V(2) also addresses arbitrability and public policy. Set-aside at the seat is a refusal ground rather than a universal automatic bar. Execution and immunity are separate practical questions.</a:t>
            </a:r>
          </a:p>
          <a:p xmlns:a="http://schemas.openxmlformats.org/drawingml/2006/main">
            <a:r>
              <a:t/>
            </a:r>
          </a:p>
          <a:p xmlns:a="http://schemas.openxmlformats.org/drawingml/2006/main">
            <a:r>
              <a:t>Source: New York Convention, Articles I, III, V and VI: https://uncitral.un.org/sites/default/files/media-documents/uncitral/en/1958nyconvention.pdf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Article 38 of the ICJ Statute recognises international custom as evidence of general practice accepted as law. Investment treaties do not remove the relevance of customary international law. The paper uses Neer to illustrate the historically high minimum-standard threshold, including outrage, bad faith and wilful neglect. The modern standard should not be assumed to remain frozen in 1926. Some treaties expressly link FET to the customary minimum standard, while others support an autonomous treaty standard. Interpretation begins with the applicable text.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ICJ Statute, Article 38(1)(b): https://www.icj-cij.org/statute . Neer v Mexico, 15 October 1926, UN Reports of International Arbitral Awards, volume IV, pages 60–66: https://legal.un.org/riaa/cases/vol_IV/60-66.pdf . UNCTAD, Fair and Equitable Treatment: https://unctad.org/system/files/official-document/unctaddiaeia2011d5_en.pdf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 foreign investor's complaint may involve a court, a municipality or a regulator rather than the central government alone. Article 4 of the International Law Commission's Articles on State Responsibility addresses state organs, including those of territorial units. Other rules can apply to entities exercising governmental authority. Attribution alone does not establish liability: the conduct must also breach an international obligation. The ICJ Statute recognises general principles as a separate category of source. The paper does not develop a detailed catalogue of such principles, so the presentation keeps this point concise.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ILC Articles on Responsibility of States for Internationally Wrongful Acts, Articles 2, 4 and 5: https://legal.un.org/ilc/texts/instruments/english/draft_articles/9_6_2001.pdf . ICJ Statute, Article 38(1)(c): https://www.icj-cij.org/statute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Washington Consensus is a label for policy prescriptions associated with economic reform, including stabilisation, liberalisation and privatisation. The paper presents these ideas as part of the historical climate in which BITs expanded. This is a contextual argument, not a claim that treaties were the only way to attract foreign investment or that signing them necessarily increased investment. Keep the legal-force distinction clear: an economic policy programme does not create a treaty obligation without an applicable legal instrument.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supplied paper, section 7.1. Historical context is presented as the paper's analysis rather than a demonstrated causal estimate.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World Bank Guidelines on the Treatment of Foreign Direct Investment make the distinction between soft and binding law concrete. Sections II and III address admission and treatment, including fair and equitable treatment and transfers. Section IV addresses expropriation and compensation. Section V addresses dispute settlement. Their practical role lies in offering a reference for policy and drafting. The source paper emphasises this influence, but the Guidelines do not automatically bind a state in the way an applicable treaty does.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World Bank, Guidelines on the Treatment of Foreign Direct Investment, 1992, sections I–V: https://documents1.worldbank.org/curated/en/955221468766167766/pdf/multi-page.pdf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conclusion is that no single source explains the whole system. Treaties establish protections, procedural rules determine access to a tribunal, and enforcement rules determine how an award receives legal effect. Customary law, general principles and state-responsibility rules support that framework. India's model and energy disputes illustrate efforts to recalibrate the balance between investor protection and public regulation. Thank you. I welcome your questions.</a:t>
            </a:r>
          </a:p>
          <a:p xmlns:a="http://schemas.openxmlformats.org/drawingml/2006/main">
            <a:r>
              <a:t/>
            </a:r>
          </a:p>
          <a:p xmlns:a="http://schemas.openxmlformats.org/drawingml/2006/main">
            <a:r>
              <a:t>Source: supplied paper, conclusion, read with the treaty and convention provisions cited throughout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reference appendix. Full links and pinpoints appear in the notes of the relevant slides. The presentation summarises Ritu Bhushan Prasad Tiwari's supplied paper, with brief qualifications for the later history of Metalclad and Eiser and the operation of the enforcement conventions.</a:t>
            </a:r>
          </a:p>
          <a:p xmlns:a="http://schemas.openxmlformats.org/drawingml/2006/main">
            <a:r>
              <a:t/>
            </a:r>
          </a:p>
          <a:p xmlns:a="http://schemas.openxmlformats.org/drawingml/2006/main">
            <a:r>
              <a:t>ICSID: https://icsid.worldbank.org/rules-regulations/convention/icsid-convention</a:t>
            </a:r>
          </a:p>
          <a:p xmlns:a="http://schemas.openxmlformats.org/drawingml/2006/main">
            <a:r>
              <a:t>New York Convention: https://uncitral.un.org/sites/default/files/media-documents/uncitral/en/1958nyconvention.pdf</a:t>
            </a:r>
          </a:p>
          <a:p xmlns:a="http://schemas.openxmlformats.org/drawingml/2006/main">
            <a:r>
              <a:t>India Model BIT: https://dea.gov.in/files/other_reports_documents/ModelTextIndia_BIT.pdf</a:t>
            </a:r>
          </a:p>
          <a:p xmlns:a="http://schemas.openxmlformats.org/drawingml/2006/main">
            <a:r>
              <a:t>White Industries award: https://www.italaw.com/sites/default/files/case-documents/ita0906.pdf</a:t>
            </a:r>
          </a:p>
          <a:p xmlns:a="http://schemas.openxmlformats.org/drawingml/2006/main">
            <a:r>
              <a:t>ICJ Statute: https://www.icj-cij.org/statute</a:t>
            </a:r>
          </a:p>
          <a:p xmlns:a="http://schemas.openxmlformats.org/drawingml/2006/main">
            <a:r>
              <a:t>ILC Articles: https://legal.un.org/ilc/texts/instruments/english/draft_articles/9_6_2001.pdf</a:t>
            </a:r>
          </a:p>
          <a:p xmlns:a="http://schemas.openxmlformats.org/drawingml/2006/main">
            <a:r>
              <a:t>World Bank Guidelines: https://documents1.worldbank.org/curated/en/955221468766167766/pdf/multi-page.pdf</a:t>
            </a:r>
          </a:p>
          <a:p xmlns:a="http://schemas.openxmlformats.org/drawingml/2006/main">
            <a:r>
              <a:t>Tecmed: https://www.italaw.com/sites/default/files/case-documents/ita0854.pdf</a:t>
            </a:r>
          </a:p>
          <a:p xmlns:a="http://schemas.openxmlformats.org/drawingml/2006/main">
            <a:r>
              <a:t>Metalclad judgment: https://italaw.com/sites/default/files/case-documents/ita0512.pdf</a:t>
            </a:r>
          </a:p>
          <a:p xmlns:a="http://schemas.openxmlformats.org/drawingml/2006/main">
            <a:r>
              <a:t>Eiser annulment: https://www.energychartertreaty.org/fileadmin/DocumentsMedia/Cases/53_Eiser_Infrastructure/ICSID_Annulment_decision__ENG_.pdf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363c1107c847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1ff8b0b9ea49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6a43c61d884c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6d10f640ed42d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93160849894ee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912d03f8da427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1b975af9aa5464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e3dc2bde8c24088"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175c4bc85a4f92" /><Relationship Type="http://schemas.openxmlformats.org/officeDocument/2006/relationships/slideLayout" Target="/ppt/slideLayouts/slideLayout1.xml" Id="Rd706c727e03c4ade" /><Relationship Type="http://schemas.openxmlformats.org/officeDocument/2006/relationships/slideLayout" Target="/ppt/slideLayouts/slideLayout2.xml" Id="R736da90c95524c72" /><Relationship Type="http://schemas.openxmlformats.org/officeDocument/2006/relationships/slideLayout" Target="/ppt/slideLayouts/slideLayout3.xml" Id="R3d359bfd31ee42bd" /><Relationship Type="http://schemas.openxmlformats.org/officeDocument/2006/relationships/slideLayout" Target="/ppt/slideLayouts/slideLayout4.xml" Id="R059f141b31224d91" /><Relationship Type="http://schemas.openxmlformats.org/officeDocument/2006/relationships/slideLayout" Target="/ppt/slideLayouts/slideLayout5.xml" Id="R3da68ab234404094" /><Relationship Type="http://schemas.openxmlformats.org/officeDocument/2006/relationships/slideLayout" Target="/ppt/slideLayouts/slideLayout6.xml" Id="R519c1f8cff2a4da8" /><Relationship Type="http://schemas.openxmlformats.org/officeDocument/2006/relationships/slideLayout" Target="/ppt/slideLayouts/slideLayout7.xml" Id="R867d698826a148b0" /><Relationship Type="http://schemas.openxmlformats.org/officeDocument/2006/relationships/slideLayout" Target="/ppt/slideLayouts/slideLayout8.xml" Id="Rfa2c0d1ded5844c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06c727e03c4ade"/>
    <p:sldLayoutId xmlns:r="http://schemas.openxmlformats.org/officeDocument/2006/relationships" id="2147483650" r:id="R736da90c95524c72"/>
    <p:sldLayoutId xmlns:r="http://schemas.openxmlformats.org/officeDocument/2006/relationships" id="2147483651" r:id="R3d359bfd31ee42bd"/>
    <p:sldLayoutId xmlns:r="http://schemas.openxmlformats.org/officeDocument/2006/relationships" id="2147483652" r:id="R059f141b31224d91"/>
    <p:sldLayoutId xmlns:r="http://schemas.openxmlformats.org/officeDocument/2006/relationships" id="2147483653" r:id="R3da68ab234404094"/>
    <p:sldLayoutId xmlns:r="http://schemas.openxmlformats.org/officeDocument/2006/relationships" id="2147483654" r:id="R519c1f8cff2a4da8"/>
    <p:sldLayoutId xmlns:r="http://schemas.openxmlformats.org/officeDocument/2006/relationships" id="2147483655" r:id="R867d698826a148b0"/>
    <p:sldLayoutId xmlns:r="http://schemas.openxmlformats.org/officeDocument/2006/relationships" id="2147483656" r:id="Rfa2c0d1ded5844c2"/>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451537bedc4c23" /><Relationship Type="http://schemas.openxmlformats.org/officeDocument/2006/relationships/notesSlide" Target="/ppt/notesSlides/notesSlide1.xml" Id="Re688df4d47764e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44e7d9d4504b1f" /><Relationship Type="http://schemas.openxmlformats.org/officeDocument/2006/relationships/notesSlide" Target="/ppt/notesSlides/notesSlide2.xml" Id="Rc8ac4c90c14443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66842e2bdf47ef" /><Relationship Type="http://schemas.openxmlformats.org/officeDocument/2006/relationships/notesSlide" Target="/ppt/notesSlides/notesSlide3.xml" Id="R9e2ea68381be4b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58a39d6dfa4c3d" /><Relationship Type="http://schemas.openxmlformats.org/officeDocument/2006/relationships/notesSlide" Target="/ppt/notesSlides/notesSlide4.xml" Id="R34bb5ce70e664b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0ffe0f95bb8471d" /><Relationship Type="http://schemas.openxmlformats.org/officeDocument/2006/relationships/notesSlide" Target="/ppt/notesSlides/notesSlide5.xml" Id="R83991b3c864d42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a96a6100ee46c9" /><Relationship Type="http://schemas.openxmlformats.org/officeDocument/2006/relationships/notesSlide" Target="/ppt/notesSlides/notesSlide6.xml" Id="R5dfb86443a9640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e9e7e041796475f" /><Relationship Type="http://schemas.openxmlformats.org/officeDocument/2006/relationships/notesSlide" Target="/ppt/notesSlides/notesSlide7.xml" Id="R6028e7cbfba34f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2d7375960ce4e13" /><Relationship Type="http://schemas.openxmlformats.org/officeDocument/2006/relationships/notesSlide" Target="/ppt/notesSlides/notesSlide8.xml" Id="R9324990d876c48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72ea9a9975a4891" /><Relationship Type="http://schemas.openxmlformats.org/officeDocument/2006/relationships/notesSlide" Target="/ppt/notesSlides/notesSlide9.xml" Id="Rfc815f23d0f04f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1531b2974d64b3d" /><Relationship Type="http://schemas.openxmlformats.org/officeDocument/2006/relationships/notesSlide" Target="/ppt/notesSlides/notesSlide10.xml" Id="R40a40007dde04f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5e89978c674639" /><Relationship Type="http://schemas.openxmlformats.org/officeDocument/2006/relationships/notesSlide" Target="/ppt/notesSlides/notesSlide11.xml" Id="R9a993d0904a943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5ae5cc048d24cb0" /><Relationship Type="http://schemas.openxmlformats.org/officeDocument/2006/relationships/notesSlide" Target="/ppt/notesSlides/notesSlide12.xml" Id="R523a1688b3e344c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18d489b2ce24292" /><Relationship Type="http://schemas.openxmlformats.org/officeDocument/2006/relationships/notesSlide" Target="/ppt/notesSlides/notesSlide13.xml" Id="Rc60950cf33dd4ab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9c17eb66f554770" /><Relationship Type="http://schemas.openxmlformats.org/officeDocument/2006/relationships/notesSlide" Target="/ppt/notesSlides/notesSlide14.xml" Id="R6a626b7c73b249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dc0cdbce8144d68" /><Relationship Type="http://schemas.openxmlformats.org/officeDocument/2006/relationships/notesSlide" Target="/ppt/notesSlides/notesSlide15.xml" Id="Rcfe417c6e0b241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a49686b8d6440b2" /><Relationship Type="http://schemas.openxmlformats.org/officeDocument/2006/relationships/notesSlide" Target="/ppt/notesSlides/notesSlide16.xml" Id="R63c425bf058d4c7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03f4c3ac3704691" /><Relationship Type="http://schemas.openxmlformats.org/officeDocument/2006/relationships/notesSlide" Target="/ppt/notesSlides/notesSlide17.xml" Id="Rbcc5d81a672a455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d1bf4c9e10c4387" /><Relationship Type="http://schemas.openxmlformats.org/officeDocument/2006/relationships/notesSlide" Target="/ppt/notesSlides/notesSlide18.xml" Id="Rce05d81451814ee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668" y="1738789"/>
            <a:ext cx="11315700" cy="2495550"/>
          </a:xfrm>
        </p:spPr>
        <p:txBody>
          <a:bodyPr xmlns:a="http://schemas.openxmlformats.org/drawingml/2006/main" wrap="square" lIns="0" tIns="0" rIns="0" bIns="0" anchor="t">
            <a:noAutofit/>
          </a:bodyPr>
          <a:lstStyle xmlns:a="http://schemas.openxmlformats.org/drawingml/2006/main">
            <a:defPPr>
              <a:defRPr sz="4800" b="0">
                <a:solidFill>
                  <a:srgbClr val="000000"/>
                </a:solidFill>
                <a:latin typeface="Helvetica Neue"/>
                <a:ea typeface="Helvetica Neue"/>
                <a:cs typeface="Helvetica Neue"/>
              </a:defRPr>
            </a:defPPr>
          </a:lstStyle>
          <a:p xmlns:a="http://schemas.openxmlformats.org/drawingml/2006/main">
            <a:pPr>
              <a:lnSpc>
                <a:spcPct val="118000"/>
              </a:lnSpc>
              <a:buNone/>
              <a:defRPr sz="4800" b="0">
                <a:solidFill>
                  <a:srgbClr val="000000"/>
                </a:solidFill>
                <a:latin typeface="Helvetica Neue"/>
                <a:ea typeface="Helvetica Neue"/>
                <a:cs typeface="Helvetica Neue"/>
              </a:defRPr>
            </a:pPr>
            <a:r>
              <a:rPr sz="4800" b="0">
                <a:solidFill>
                  <a:srgbClr val="000000"/>
                </a:solidFill>
                <a:latin typeface="Helvetica Neue"/>
                <a:ea typeface="Helvetica Neue"/>
                <a:cs typeface="Helvetica Neue"/>
              </a:rPr>
              <a:t>Comprehensive Analysis of the</a:t>
            </a:r>
          </a:p>
          <a:p xmlns:a="http://schemas.openxmlformats.org/drawingml/2006/main">
            <a:pPr>
              <a:lnSpc>
                <a:spcPct val="118000"/>
              </a:lnSpc>
              <a:buNone/>
              <a:defRPr sz="4800" b="0">
                <a:solidFill>
                  <a:srgbClr val="000000"/>
                </a:solidFill>
                <a:latin typeface="Helvetica Neue"/>
                <a:ea typeface="Helvetica Neue"/>
                <a:cs typeface="Helvetica Neue"/>
              </a:defRPr>
            </a:pPr>
            <a:r>
              <a:rPr sz="4800" b="0">
                <a:solidFill>
                  <a:srgbClr val="000000"/>
                </a:solidFill>
                <a:latin typeface="Helvetica Neue"/>
                <a:ea typeface="Helvetica Neue"/>
                <a:cs typeface="Helvetica Neue"/>
              </a:rPr>
              <a:t>Sources of International</a:t>
            </a:r>
          </a:p>
          <a:p xmlns:a="http://schemas.openxmlformats.org/drawingml/2006/main">
            <a:pPr>
              <a:lnSpc>
                <a:spcPct val="118000"/>
              </a:lnSpc>
              <a:buNone/>
              <a:defRPr sz="4800" b="0">
                <a:solidFill>
                  <a:srgbClr val="000000"/>
                </a:solidFill>
                <a:latin typeface="Helvetica Neue"/>
                <a:ea typeface="Helvetica Neue"/>
                <a:cs typeface="Helvetica Neue"/>
              </a:defRPr>
            </a:pPr>
            <a:r>
              <a:rPr sz="4800" b="0">
                <a:solidFill>
                  <a:srgbClr val="000000"/>
                </a:solidFill>
                <a:latin typeface="Helvetica Neue"/>
                <a:ea typeface="Helvetica Neue"/>
                <a:cs typeface="Helvetica Neue"/>
              </a:rPr>
              <a:t>Investment Law</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668" y="4543425"/>
            <a:ext cx="11049000" cy="1657350"/>
          </a:xfrm>
        </p:spPr>
        <p:txBody>
          <a:bodyPr xmlns:a="http://schemas.openxmlformats.org/drawingml/2006/main" wrap="square" lIns="0" tIns="0" rIns="0" bIns="0" anchor="t">
            <a:noAutofit/>
          </a:bodyPr>
          <a:lstStyle xmlns:a="http://schemas.openxmlformats.org/drawingml/2006/main">
            <a:defPPr>
              <a:defRPr sz="1800" b="0">
                <a:solidFill>
                  <a:srgbClr val="000000"/>
                </a:solidFill>
                <a:latin typeface="Helvetica Neue"/>
                <a:ea typeface="Helvetica Neue"/>
                <a:cs typeface="Helvetica Neue"/>
              </a:defRPr>
            </a:defPPr>
          </a:lstStyle>
          <a:p xmlns:a="http://schemas.openxmlformats.org/drawingml/2006/main">
            <a:pPr>
              <a:lnSpc>
                <a:spcPct val="118000"/>
              </a:lnSpc>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Ritu Bhushan Prasad Tiwari</a:t>
            </a:r>
          </a:p>
          <a:p xmlns:a="http://schemas.openxmlformats.org/drawingml/2006/main">
            <a:pPr>
              <a:lnSpc>
                <a:spcPct val="118000"/>
              </a:lnSpc>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24IP63032</a:t>
            </a:r>
          </a:p>
          <a:p xmlns:a="http://schemas.openxmlformats.org/drawingml/2006/main">
            <a:pPr>
              <a:lnSpc>
                <a:spcPct val="118000"/>
              </a:lnSpc>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Rajiv Gandhi School of Intellectual Property Law</a:t>
            </a:r>
          </a:p>
          <a:p xmlns:a="http://schemas.openxmlformats.org/drawingml/2006/main">
            <a:pPr>
              <a:lnSpc>
                <a:spcPct val="118000"/>
              </a:lnSpc>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IIT KHARAGPUR</a:t>
            </a:r>
          </a:p>
          <a:p xmlns:a="http://schemas.openxmlformats.org/drawingml/2006/main">
            <a:pPr>
              <a:lnSpc>
                <a:spcPct val="118000"/>
              </a:lnSpc>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Submitted to: Dr. S.R. Subramanian</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668" y="392240"/>
            <a:ext cx="10668000" cy="649224"/>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defPPr>
              <a:defRPr sz="1800" b="0">
                <a:solidFill>
                  <a:srgbClr val="000000"/>
                </a:solidFill>
                <a:latin typeface="Helvetica Neue"/>
                <a:ea typeface="Helvetica Neue"/>
                <a:cs typeface="Helvetica Neue"/>
              </a:defRPr>
            </a:defPPr>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nSpc>
                <a:spcPct val="118000"/>
              </a:lnSpc>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International Investment Law Assignment</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E2598689-54C9-18A7-3A19-ED76AA08988F}" type="slidenum">
              <a:rPr sz="900" b="0">
                <a:solidFill>
                  <a:srgbClr val="000000"/>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Investor protection and state regulation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Foreign investors</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Investors seek protection against arbitrary treatment, discrimination and unlawful taking of their investments.</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Investment law may give them a direct route to bring a claim against a host state.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Host states</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States regulate in the public interest, including for health, the environment and economic policy.</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The applicable legal rules define when state conduct creates international responsibility.</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202359C0-8A7A-196E-DD58-8E6569619F09}" type="slidenum">
              <a:rPr sz="900" b="0">
                <a:solidFill>
                  <a:srgbClr val="000000"/>
                </a:solidFill>
                <a:latin typeface="Helvetica Neue"/>
                <a:ea typeface="Helvetica Neue"/>
                <a:cs typeface="Helvetica Neue"/>
              </a:rPr>
              <a:t>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The main sources and their roles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Investment treaties</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BITs and investment chapters in trade agreements establish binding protections for covered investments.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Arbitration conventions</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ICSID supplies an arbitration and enforcement system. The New York Convention supports enforcement of other awards.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Custom and general principles</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These sources inform treatment standards, interpretation and state responsibility.</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Soft law and policy</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Non-binding guidance and economic policies influence treaty drafting and reform.</a:t>
            </a:r>
          </a:p>
        </p:txBody>
      </p:sp>
    </p:spTree>
    <p:extLst>
      <p:ext uri="{BB962C8B-B14F-4D97-AF65-F5344CB8AC3E}">
        <p14:creationId xmlns:p14="http://schemas.microsoft.com/office/powerpoint/2010/main" val="3601454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EFD6AB9A-5F9E-5F59-51AB-3C8734130965}" type="slidenum">
              <a:rPr sz="900" b="0">
                <a:solidFill>
                  <a:srgbClr val="000000"/>
                </a:solidFill>
                <a:latin typeface="Helvetica Neue"/>
                <a:ea typeface="Helvetica Neue"/>
                <a:cs typeface="Helvetica Neue"/>
              </a:rPr>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Bilateral investment treaties: core protections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Fair and equitable treatment</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FET can address arbitrary conduct, due process and investor expectations. Its scope depends on the treaty.</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Expropriation</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Treaties regulate direct and indirect taking, including conditions for lawful expropriation and compensation.</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National treatment</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A treaty may require treatment no less favourable than that of domestic investors in comparable circumstances.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Most-favoured-nation treatment</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MFN compares treatment with investors from third states, subject to the clause's wording and limits.</a:t>
            </a: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EE5B3003-2C54-13C6-9832-7637201064DE}" type="slidenum">
              <a:rPr sz="900" b="0">
                <a:solidFill>
                  <a:srgbClr val="000000"/>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Treaty protection in practice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Tecmed v. Mexico (2003)</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The tribunal considered a landfill permit's non-renewal under the treaty's FET standard.</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It emphasised consistent and transparent state conduct and the investor's basic expectations.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Metalclad v. Mexico (2000)</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Permit decisions and an ecological decree raised indirect-expropriation issues.</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After a partial judicial set-aside in 2001, the decree-based expropriation finding survived.</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8C630A04-5A25-9E0C-9436-126091DB86B3}" type="slidenum">
              <a:rPr sz="900" b="0">
                <a:solidFill>
                  <a:srgbClr val="000000"/>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Investor-state dispute settlement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Direct access to arbitration</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An ISDS clause may allow a qualifying investor to bring a claim directly against a host state.</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The investor need not rely on its home state to pursue diplomatic protection.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Consent and conditions</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Access depends on consent, covered investors and investments, and the applicable treaty's requirements.</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Domestic remedies, time limits and other procedural steps may apply.</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D3D7D1C8-AE23-AA48-DF65-C742588DBE47}" type="slidenum">
              <a:rPr sz="900" b="0">
                <a:solidFill>
                  <a:srgbClr val="000000"/>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India: White Industries and treaty policy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The dispute</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White Industries held a commercial award against Coal India and faced prolonged Indian court proceedings.</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It then brought a treaty claim under the India–Australia BIT.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The treaty finding (2011)</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MFN allowed reliance on an effective-means obligation in the India–Kuwait BIT.</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Delay in the set-aside proceedings breached that obligation. The case contributed to India's treaty-policy review.</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BA58DA2A-B818-18A9-29C1-B697728D5BCE}" type="slidenum">
              <a:rPr sz="900" b="0">
                <a:solidFill>
                  <a:srgbClr val="000000"/>
                </a:solidFill>
                <a:latin typeface="Helvetica Neue"/>
                <a:ea typeface="Helvetica Neue"/>
                <a:cs typeface="Helvetica Neue"/>
              </a:rPr>
              <a:t>8</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India's Model BIT of 2015</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Covered investment</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An enterprise-based definition narrows coverage and excludes portfolio investment.</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Treatment standard</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A specified list of customary-law violations replaces a broad FET clause.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Domestic remedies</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Prior domestic remedies apply. A five-year period runs from first knowledge of the measure, with a narrow exception.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Regulatory space</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The model gives greater weight to public regulation. It guides negotiations rather than binding investors by itself.</a:t>
            </a:r>
          </a:p>
        </p:txBody>
      </p:sp>
    </p:spTree>
    <p:extLst>
      <p:ext uri="{BB962C8B-B14F-4D97-AF65-F5344CB8AC3E}">
        <p14:creationId xmlns:p14="http://schemas.microsoft.com/office/powerpoint/2010/main" val="3601454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388657AE-30A1-5A7A-6A7F-315D84436430}" type="slidenum">
              <a:rPr sz="900" b="0">
                <a:solidFill>
                  <a:srgbClr val="000000"/>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Multilateral treaties: the Energy Charter Treaty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A sector-specific framework</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The 1994 ECT provides protections for covered energy investments.</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Subsidy disputes, climate policy and treaty withdrawals have prompted debate about its protections and regulatory space.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Eiser v. Spain</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A 2017 tribunal found a breach of FET after changes to Spain's solar-energy support regime.</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The award was annulled in full in 2020 because of defects in tribunal constitution and procedure.</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DB7BEEEC-A170-5376-2B6E-CB54687B0CB1}" type="slidenum">
              <a:rPr sz="900" b="0">
                <a:solidFill>
                  <a:srgbClr val="000000"/>
                </a:solidFill>
                <a:latin typeface="Helvetica Neue"/>
                <a:ea typeface="Helvetica Neue"/>
                <a:cs typeface="Helvetica Neue"/>
              </a:rPr>
              <a:t>10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Investment chapters in trade agreements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NAFTA and USMCA</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NAFTA Chapter 11 combined investment protections with investor-state arbitration.</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USMCA replaced NAFTA and narrowed ISDS. Its scope differs across treaty relationships and investment sectors.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CPTPP</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The CPTPP also contains an investment chapter with substantive protections and dispute-settlement rules.</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It includes provisions addressing environmental, health and other regulatory objectives.</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30394428-F1DC-E5F6-DB0C-7DE31F3D8A23}" type="slidenum">
              <a:rPr sz="900" b="0">
                <a:solidFill>
                  <a:srgbClr val="000000"/>
                </a:solidFill>
                <a:latin typeface="Helvetica Neue"/>
                <a:ea typeface="Helvetica Neue"/>
                <a:cs typeface="Helvetica Neue"/>
              </a:rPr>
              <a:t>11</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The ICSID Convention: procedure and enforcement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Article 25: jurisdiction</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A qualifying investment dispute, eligible parties and written consent are required.</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Article 52: annulment</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Internal review uses specified grounds. National courts cannot set aside an ICSID Convention award.</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Article 54: enforcement</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Contracting states recognise awards and enforce monetary obligations as final domestic court judgments.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Article 55: immunity</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Rules on immunity from execution remain relevant. Recognition and enforcement do not guarantee payment.</a:t>
            </a:r>
          </a:p>
        </p:txBody>
      </p:sp>
    </p:spTree>
    <p:extLst>
      <p:ext uri="{BB962C8B-B14F-4D97-AF65-F5344CB8AC3E}">
        <p14:creationId xmlns:p14="http://schemas.microsoft.com/office/powerpoint/2010/main" val="36014548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4DB16885-0D3F-A391-B669-3211DB3B26E8}" type="slidenum">
              <a:rPr sz="900" b="0">
                <a:solidFill>
                  <a:srgbClr val="000000"/>
                </a:solidFill>
                <a:latin typeface="Helvetica Neue"/>
                <a:ea typeface="Helvetica Neue"/>
                <a:cs typeface="Helvetica Neue"/>
              </a:rPr>
              <a:t>12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The New York Convention: non-ICSID awards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Scope</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The 1958 Convention supports recognition and enforcement of qualifying foreign or non-domestic arbitral awards.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Courts at the seat</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The law of the arbitral seat permits court supervision and possible set-aside proceedings.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Article V grounds</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Limited refusal grounds include invalid consent, procedural defects and decisions beyond the tribunal's authority.</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Public policy</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Article V includes a public-policy exception. Enforcement may also raise questions of sovereign immunity.</a:t>
            </a:r>
          </a:p>
        </p:txBody>
      </p:sp>
    </p:spTree>
    <p:extLst>
      <p:ext uri="{BB962C8B-B14F-4D97-AF65-F5344CB8AC3E}">
        <p14:creationId xmlns:p14="http://schemas.microsoft.com/office/powerpoint/2010/main" val="3601454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2DD23107-4986-8758-3A93-3D74F35908CC}" type="slidenum">
              <a:rPr sz="900" b="0">
                <a:solidFill>
                  <a:srgbClr val="000000"/>
                </a:solidFill>
                <a:latin typeface="Helvetica Neue"/>
                <a:ea typeface="Helvetica Neue"/>
                <a:cs typeface="Helvetica Neue"/>
              </a:rPr>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Customary international law and treatment standards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Custom as a source</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Customary law derives from general practice accepted as law.</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It remains relevant to investor treatment and the wider legal framework, alongside treaty obligations.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The minimum standard</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Neer v. Mexico (1926) expressed a demanding historical threshold for wrongful treatment.</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Treaty wording determines whether FET links to custom or provides an autonomous standard.</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327921A4-25C4-3DB4-06B1-32693CEE2241}" type="slidenum">
              <a:rPr sz="900" b="0">
                <a:solidFill>
                  <a:srgbClr val="000000"/>
                </a:solidFill>
                <a:latin typeface="Helvetica Neue"/>
                <a:ea typeface="Helvetica Neue"/>
                <a:cs typeface="Helvetica Neue"/>
              </a:rPr>
              <a:t>14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State responsibility and general principles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Attributing conduct to the state</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State organs include legislative, executive and judicial bodies, including organs of territorial units.</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Conduct by a municipality or regulator may therefore engage the state's treaty obligations.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The legal consequence</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Attribution identifies whose conduct counts as state conduct. A breach of an obligation must also be shown.</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General principles form another recognised source of international law.</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EA83FA91-883A-0168-8075-96CEB9DCA3C2}" type="slidenum">
              <a:rPr sz="900" b="0">
                <a:solidFill>
                  <a:srgbClr val="000000"/>
                </a:solidFill>
                <a:latin typeface="Helvetica Neue"/>
                <a:ea typeface="Helvetica Neue"/>
                <a:cs typeface="Helvetica Neue"/>
              </a:rPr>
              <a:t>15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Economic policy and the Washington Consensus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The historical context</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The paper links treaty expansion in the late 1980s and 1990s to policies favouring liberalisation and foreign investment.</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Privatisation and economic stabilisation formed part of this policy context.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Its role in investment law</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Governments used investor guarantees as one way to signal protection for foreign capital.</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Economic policy helps explain treaty development, but does not itself create binding investment obligations.</a:t>
            </a:r>
          </a:p>
        </p:txBody>
      </p:sp>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DC9C7607-4BA3-B4DC-A00F-2E67A9FCFF7E}" type="slidenum">
              <a:rPr sz="900" b="0">
                <a:solidFill>
                  <a:srgbClr val="000000"/>
                </a:solidFill>
                <a:latin typeface="Helvetica Neue"/>
                <a:ea typeface="Helvetica Neue"/>
                <a:cs typeface="Helvetica Neue"/>
              </a:rPr>
              <a:t>16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World Bank Guidelines of 1992</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Recommended approaches</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The Guidelines address admission and treatment of foreign investment, transfers of funds, and expropriation.</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They also discuss disputes between investors and host states.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Soft law and treaty drafting</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The Guidelines provide policy guidance rather than binding treaty obligations.</a:t>
            </a:r>
            <a:br>
              <a:rPr sz="2100">
                <a:latin typeface="Helvetica Neue"/>
                <a:ea typeface="Helvetica Neue"/>
                <a:cs typeface="Helvetica Neue"/>
              </a:rPr>
            </a:br>
            <a:br>
              <a:rPr sz="2100">
                <a:latin typeface="Helvetica Neue"/>
                <a:ea typeface="Helvetica Neue"/>
                <a:cs typeface="Helvetica Neue"/>
              </a:rPr>
            </a:br>
            <a:r>
              <a:rPr sz="2100">
                <a:latin typeface="Helvetica Neue"/>
                <a:ea typeface="Helvetica Neue"/>
                <a:cs typeface="Helvetica Neue"/>
              </a:rPr>
              <a:t>Their recommendations can inform the terms states later adopt in legally binding investment treaties.</a:t>
            </a:r>
          </a:p>
        </p:txBody>
      </p:sp>
    </p:spTree>
    <p:extLst>
      <p:ext uri="{BB962C8B-B14F-4D97-AF65-F5344CB8AC3E}">
        <p14:creationId xmlns:p14="http://schemas.microsoft.com/office/powerpoint/2010/main" val="366718214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90F7333B-44AC-F7E9-D49D-FE92F45E0477}" type="slidenum">
              <a:rPr sz="900" b="0">
                <a:solidFill>
                  <a:srgbClr val="000000"/>
                </a:solidFill>
                <a:latin typeface="Helvetica Neue"/>
                <a:ea typeface="Helvetica Neue"/>
                <a:cs typeface="Helvetica Neue"/>
              </a:rPr>
              <a:t>17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Conclusion: how the sources work together</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Protection</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Investment treaties define most substantive rights and the scope of state obligations.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Dispute resolution</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Consent and procedural rules determine whether an investor can bring an international claim.</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Enforcement</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ICSID and the New York Convention give awards different routes to recognition and enforcement.</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Interpretation and reform</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2100">
                <a:latin typeface="Helvetica Neue"/>
                <a:ea typeface="Helvetica Neue"/>
                <a:cs typeface="Helvetica Neue"/>
              </a:rPr>
              <a:t>Custom and principles inform the framework. Reform seeks a workable balance with public regulation.</a:t>
            </a:r>
          </a:p>
        </p:txBody>
      </p:sp>
    </p:spTree>
    <p:extLst>
      <p:ext uri="{BB962C8B-B14F-4D97-AF65-F5344CB8AC3E}">
        <p14:creationId xmlns:p14="http://schemas.microsoft.com/office/powerpoint/2010/main" val="36014548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defPPr>
              <a:defRPr sz="900" b="0">
                <a:solidFill>
                  <a:srgbClr val="000000"/>
                </a:solidFill>
                <a:latin typeface="Helvetica Neue"/>
                <a:ea typeface="Helvetica Neue"/>
                <a:cs typeface="Helvetica Neue"/>
              </a:defRPr>
            </a:defPPr>
          </a:lstStyle>
          <a:p xmlns:a="http://schemas.openxmlformats.org/drawingml/2006/main">
            <a:r>
              <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t">
            <a:noAutofit/>
          </a:bodyPr>
          <a:lstStyle xmlns:a="http://schemas.openxmlformats.org/drawingml/2006/main">
            <a:defPPr algn="r">
              <a:defRPr sz="900" b="0">
                <a:solidFill>
                  <a:srgbClr val="000000"/>
                </a:solidFill>
                <a:latin typeface="Helvetica Neue"/>
                <a:ea typeface="Helvetica Neue"/>
                <a:cs typeface="Helvetica Neue"/>
              </a:defRPr>
            </a:defPPr>
          </a:lstStyle>
          <a:p xmlns:a="http://schemas.openxmlformats.org/drawingml/2006/main">
            <a:pPr algn="r">
              <a:lnSpc>
                <a:spcPct val="118000"/>
              </a:lnSpc>
              <a:buNone/>
              <a:defRPr sz="900" b="0">
                <a:solidFill>
                  <a:srgbClr val="000000"/>
                </a:solidFill>
                <a:latin typeface="Helvetica Neue"/>
                <a:ea typeface="Helvetica Neue"/>
                <a:cs typeface="Helvetica Neue"/>
              </a:defRPr>
            </a:pPr>
            <a:fld id="{B1C6C81E-38B9-7560-621D-5A151A79DF9B}" type="slidenum">
              <a:rPr sz="900" b="0">
                <a:solidFill>
                  <a:srgbClr val="000000"/>
                </a:solidFill>
                <a:latin typeface="Helvetica Neue"/>
                <a:ea typeface="Helvetica Neue"/>
                <a:cs typeface="Helvetica Neue"/>
              </a:rPr>
              <a:t>18</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defPPr>
              <a:defRPr sz="2850" b="0">
                <a:solidFill>
                  <a:srgbClr val="000000"/>
                </a:solidFill>
                <a:latin typeface="Helvetica Neue"/>
                <a:ea typeface="Helvetica Neue"/>
                <a:cs typeface="Helvetica Neue"/>
              </a:defRPr>
            </a:defPPr>
          </a:lstStyle>
          <a:p xmlns:a="http://schemas.openxmlformats.org/drawingml/2006/main">
            <a:pPr>
              <a:lnSpc>
                <a:spcPct val="118000"/>
              </a:lnSpc>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Selected primary authorities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Treaty procedure and enforcement</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1875">
                <a:latin typeface="Helvetica Neue"/>
                <a:ea typeface="Helvetica Neue"/>
                <a:cs typeface="Helvetica Neue"/>
              </a:rPr>
              <a:t>ICSID Convention, Articles 25 and 52–55</a:t>
            </a:r>
            <a:br>
              <a:rPr sz="1875">
                <a:latin typeface="Helvetica Neue"/>
                <a:ea typeface="Helvetica Neue"/>
                <a:cs typeface="Helvetica Neue"/>
              </a:rPr>
            </a:br>
            <a:r>
              <a:rPr sz="1875">
                <a:latin typeface="Helvetica Neue"/>
                <a:ea typeface="Helvetica Neue"/>
                <a:cs typeface="Helvetica Neue"/>
              </a:rPr>
              <a:t>New York Convention, Articles I, III and V–VI</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spcFirstLastPara="0"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India's model</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1875">
                <a:latin typeface="Helvetica Neue"/>
                <a:ea typeface="Helvetica Neue"/>
                <a:cs typeface="Helvetica Neue"/>
              </a:rPr>
              <a:t>Model BIT (2015), Articles 1.4, 3 and 15</a:t>
            </a:r>
            <a:br>
              <a:rPr sz="1875">
                <a:latin typeface="Helvetica Neue"/>
                <a:ea typeface="Helvetica Neue"/>
                <a:cs typeface="Helvetica Neue"/>
              </a:rPr>
            </a:br>
            <a:r>
              <a:rPr sz="1875">
                <a:latin typeface="Helvetica Neue"/>
                <a:ea typeface="Helvetica Neue"/>
                <a:cs typeface="Helvetica Neue"/>
              </a:rPr>
              <a:t>White Industries v. India, Final Award (2011)</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Other sources</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1875">
                <a:latin typeface="Helvetica Neue"/>
                <a:ea typeface="Helvetica Neue"/>
                <a:cs typeface="Helvetica Neue"/>
              </a:rPr>
              <a:t>ICJ Statute, Article 38</a:t>
            </a:r>
            <a:br>
              <a:rPr sz="1875">
                <a:latin typeface="Helvetica Neue"/>
                <a:ea typeface="Helvetica Neue"/>
                <a:cs typeface="Helvetica Neue"/>
              </a:rPr>
            </a:br>
            <a:r>
              <a:rPr sz="1875">
                <a:latin typeface="Helvetica Neue"/>
                <a:ea typeface="Helvetica Neue"/>
                <a:cs typeface="Helvetica Neue"/>
              </a:rPr>
              <a:t>ILC State Responsibility Articles, 2 and 4–5</a:t>
            </a:r>
            <a:br>
              <a:rPr sz="1875">
                <a:latin typeface="Helvetica Neue"/>
                <a:ea typeface="Helvetica Neue"/>
                <a:cs typeface="Helvetica Neue"/>
              </a:rPr>
            </a:br>
            <a:r>
              <a:rPr sz="1875">
                <a:latin typeface="Helvetica Neue"/>
                <a:ea typeface="Helvetica Neue"/>
                <a:cs typeface="Helvetica Neue"/>
              </a:rPr>
              <a:t>World Bank Guidelines (1992)</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spcFirstLastPara="0" vert="horz" wrap="square" lIns="0" tIns="0" rIns="0" bIns="0" anchor="t">
            <a:noAutofit/>
          </a:bodyPr>
          <a:lstStyle xmlns:a="http://schemas.openxmlformats.org/drawingml/2006/main">
            <a:defPPr>
              <a:defRPr sz="2100" b="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6000"/>
              </a:lnSpc>
              <a:spcBef>
                <a:spcPts val="0"/>
              </a:spcBef>
              <a:spcAft>
                <a:spcPts val="900"/>
              </a:spcAft>
              <a:buNone/>
              <a:defRPr sz="2100" b="0">
                <a:solidFill>
                  <a:srgbClr val="000000"/>
                </a:solidFill>
                <a:latin typeface="Helvetica Neue"/>
                <a:ea typeface="Helvetica Neue"/>
                <a:cs typeface="Helvetica Neue"/>
              </a:defRPr>
            </a:pPr>
            <a:r>
              <a:rPr sz="2400">
                <a:latin typeface="Helvetica Neue"/>
                <a:ea typeface="Helvetica Neue"/>
                <a:cs typeface="Helvetica Neue"/>
              </a:rPr>
              <a:t>Illustrative cases</a:t>
            </a:r>
          </a:p>
          <a:p xmlns:a="http://schemas.openxmlformats.org/drawingml/2006/main">
            <a:pPr marL="0" indent="0">
              <a:lnSpc>
                <a:spcPct val="116000"/>
              </a:lnSpc>
              <a:spcBef>
                <a:spcPts val="0"/>
              </a:spcBef>
              <a:spcAft>
                <a:spcPts val="0"/>
              </a:spcAft>
              <a:buNone/>
              <a:defRPr sz="2100" b="0">
                <a:solidFill>
                  <a:srgbClr val="000000"/>
                </a:solidFill>
                <a:latin typeface="Helvetica Neue"/>
                <a:ea typeface="Helvetica Neue"/>
                <a:cs typeface="Helvetica Neue"/>
              </a:defRPr>
            </a:pPr>
            <a:r>
              <a:rPr sz="1875">
                <a:latin typeface="Helvetica Neue"/>
                <a:ea typeface="Helvetica Neue"/>
                <a:cs typeface="Helvetica Neue"/>
              </a:rPr>
              <a:t>Tecmed v. Mexico (2003)</a:t>
            </a:r>
            <a:br>
              <a:rPr sz="1875">
                <a:latin typeface="Helvetica Neue"/>
                <a:ea typeface="Helvetica Neue"/>
                <a:cs typeface="Helvetica Neue"/>
              </a:rPr>
            </a:br>
            <a:r>
              <a:rPr sz="1875">
                <a:latin typeface="Helvetica Neue"/>
                <a:ea typeface="Helvetica Neue"/>
                <a:cs typeface="Helvetica Neue"/>
              </a:rPr>
              <a:t>Metalclad v. Mexico (2000 and 2001)</a:t>
            </a:r>
            <a:br>
              <a:rPr sz="1875">
                <a:latin typeface="Helvetica Neue"/>
                <a:ea typeface="Helvetica Neue"/>
                <a:cs typeface="Helvetica Neue"/>
              </a:rPr>
            </a:br>
            <a:r>
              <a:rPr sz="1875">
                <a:latin typeface="Helvetica Neue"/>
                <a:ea typeface="Helvetica Neue"/>
                <a:cs typeface="Helvetica Neue"/>
              </a:rPr>
              <a:t>Eiser v. Spain (2017 and 2020)</a:t>
            </a:r>
          </a:p>
        </p:txBody>
      </p:sp>
    </p:spTree>
    <p:extLst>
      <p:ext uri="{BB962C8B-B14F-4D97-AF65-F5344CB8AC3E}">
        <p14:creationId xmlns:p14="http://schemas.microsoft.com/office/powerpoint/2010/main" val="360145486"/>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2026-10-14T14:01:13.1000000Z</dcterms:created>
  <dcterms:modified xsi:type="dcterms:W3CDTF">2026-10-14T14:01:13.1000000Z</dcterms:modified>
</coreProperties>
</file>