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b8342426dc4576" /><Relationship Type="http://schemas.openxmlformats.org/officeDocument/2006/relationships/extended-properties" Target="/docProps/app.xml" Id="R085ceb3fa773402f" /><Relationship Type="http://schemas.openxmlformats.org/officeDocument/2006/relationships/officeDocument" Target="/ppt/presentation.xml" Id="Rfe150f1647e7457b" /></Relationships>
</file>

<file path=ppt/presentation.xml><?xml version="1.0" encoding="utf-8"?>
<p:presentation xmlns:p="http://schemas.openxmlformats.org/presentationml/2006/main">
  <p:sldMasterIdLst>
    <p:sldMasterId xmlns:r="http://schemas.openxmlformats.org/officeDocument/2006/relationships" id="2147483648" r:id="R655fc06f0fec45b9"/>
  </p:sldMasterIdLst>
  <p:notesMasterIdLst>
    <p:notesMasterId xmlns:r="http://schemas.openxmlformats.org/officeDocument/2006/relationships" r:id="R8ccc490b573f4e7f"/>
  </p:notesMasterIdLst>
  <p:sldIdLst>
    <p:sldId xmlns:r="http://schemas.openxmlformats.org/officeDocument/2006/relationships" id="256" r:id="R1452d05ddd934806"/>
    <p:sldId xmlns:r="http://schemas.openxmlformats.org/officeDocument/2006/relationships" id="257" r:id="R0b061a79ba7e425d"/>
    <p:sldId xmlns:r="http://schemas.openxmlformats.org/officeDocument/2006/relationships" id="258" r:id="R99c474cdde634866"/>
    <p:sldId xmlns:r="http://schemas.openxmlformats.org/officeDocument/2006/relationships" id="259" r:id="R26825d7ff5ed4414"/>
    <p:sldId xmlns:r="http://schemas.openxmlformats.org/officeDocument/2006/relationships" id="260" r:id="R25a24629e412415b"/>
    <p:sldId xmlns:r="http://schemas.openxmlformats.org/officeDocument/2006/relationships" id="261" r:id="Re927c547831e478e"/>
    <p:sldId xmlns:r="http://schemas.openxmlformats.org/officeDocument/2006/relationships" id="262" r:id="R8a8ca6a8b8584d07"/>
    <p:sldId xmlns:r="http://schemas.openxmlformats.org/officeDocument/2006/relationships" id="263" r:id="Rde81e3875b2d410b"/>
    <p:sldId xmlns:r="http://schemas.openxmlformats.org/officeDocument/2006/relationships" id="264" r:id="Re226f237c8544027"/>
    <p:sldId xmlns:r="http://schemas.openxmlformats.org/officeDocument/2006/relationships" id="265" r:id="R17d1487a676045a8"/>
    <p:sldId xmlns:r="http://schemas.openxmlformats.org/officeDocument/2006/relationships" id="266" r:id="R472474774f474326"/>
    <p:sldId xmlns:r="http://schemas.openxmlformats.org/officeDocument/2006/relationships" id="267" r:id="R59a6cb90983c4bdd"/>
    <p:sldId xmlns:r="http://schemas.openxmlformats.org/officeDocument/2006/relationships" id="268" r:id="Rb2efc1a05aba4125"/>
    <p:sldId xmlns:r="http://schemas.openxmlformats.org/officeDocument/2006/relationships" id="269" r:id="Rb9e7841049c849cc"/>
    <p:sldId xmlns:r="http://schemas.openxmlformats.org/officeDocument/2006/relationships" id="270" r:id="Rd978192860804993"/>
    <p:sldId xmlns:r="http://schemas.openxmlformats.org/officeDocument/2006/relationships" id="271" r:id="Rfbf1ae9ea5414fac"/>
    <p:sldId xmlns:r="http://schemas.openxmlformats.org/officeDocument/2006/relationships" id="272" r:id="R66cfcfa1ef93465b"/>
    <p:sldId xmlns:r="http://schemas.openxmlformats.org/officeDocument/2006/relationships" id="273" r:id="R55b11143b9174bc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7a49c2230444fb8" /><Relationship Type="http://schemas.openxmlformats.org/officeDocument/2006/relationships/slideMaster" Target="/ppt/slideMasters/slideMaster1.xml" Id="R655fc06f0fec45b9" /><Relationship Type="http://schemas.openxmlformats.org/officeDocument/2006/relationships/notesMaster" Target="/ppt/notesMasters/notesMaster1.xml" Id="R8ccc490b573f4e7f" /><Relationship Type="http://schemas.openxmlformats.org/officeDocument/2006/relationships/presProps" Target="/ppt/presProps.xml" Id="Rdeadae3a69af4c2a" /><Relationship Type="http://schemas.openxmlformats.org/officeDocument/2006/relationships/viewProps" Target="/ppt/viewProps.xml" Id="R62d23e9f3feb4170" /><Relationship Type="http://schemas.openxmlformats.org/officeDocument/2006/relationships/tableStyles" Target="/ppt/tableStyles.xml" Id="R4faba8a2b8b14fb4" /><Relationship Type="http://schemas.openxmlformats.org/officeDocument/2006/relationships/slide" Target="/ppt/slides/slide1.xml" Id="R1452d05ddd934806" /><Relationship Type="http://schemas.openxmlformats.org/officeDocument/2006/relationships/slide" Target="/ppt/slides/slide2.xml" Id="R0b061a79ba7e425d" /><Relationship Type="http://schemas.openxmlformats.org/officeDocument/2006/relationships/slide" Target="/ppt/slides/slide3.xml" Id="R99c474cdde634866" /><Relationship Type="http://schemas.openxmlformats.org/officeDocument/2006/relationships/slide" Target="/ppt/slides/slide4.xml" Id="R26825d7ff5ed4414" /><Relationship Type="http://schemas.openxmlformats.org/officeDocument/2006/relationships/slide" Target="/ppt/slides/slide5.xml" Id="R25a24629e412415b" /><Relationship Type="http://schemas.openxmlformats.org/officeDocument/2006/relationships/slide" Target="/ppt/slides/slide6.xml" Id="Re927c547831e478e" /><Relationship Type="http://schemas.openxmlformats.org/officeDocument/2006/relationships/slide" Target="/ppt/slides/slide7.xml" Id="R8a8ca6a8b8584d07" /><Relationship Type="http://schemas.openxmlformats.org/officeDocument/2006/relationships/slide" Target="/ppt/slides/slide8.xml" Id="Rde81e3875b2d410b" /><Relationship Type="http://schemas.openxmlformats.org/officeDocument/2006/relationships/slide" Target="/ppt/slides/slide9.xml" Id="Re226f237c8544027" /><Relationship Type="http://schemas.openxmlformats.org/officeDocument/2006/relationships/slide" Target="/ppt/slides/slide10.xml" Id="R17d1487a676045a8" /><Relationship Type="http://schemas.openxmlformats.org/officeDocument/2006/relationships/slide" Target="/ppt/slides/slide11.xml" Id="R472474774f474326" /><Relationship Type="http://schemas.openxmlformats.org/officeDocument/2006/relationships/slide" Target="/ppt/slides/slide12.xml" Id="R59a6cb90983c4bdd" /><Relationship Type="http://schemas.openxmlformats.org/officeDocument/2006/relationships/slide" Target="/ppt/slides/slide13.xml" Id="Rb2efc1a05aba4125" /><Relationship Type="http://schemas.openxmlformats.org/officeDocument/2006/relationships/slide" Target="/ppt/slides/slide14.xml" Id="Rb9e7841049c849cc" /><Relationship Type="http://schemas.openxmlformats.org/officeDocument/2006/relationships/slide" Target="/ppt/slides/slide15.xml" Id="Rd978192860804993" /><Relationship Type="http://schemas.openxmlformats.org/officeDocument/2006/relationships/slide" Target="/ppt/slides/slide16.xml" Id="Rfbf1ae9ea5414fac" /><Relationship Type="http://schemas.openxmlformats.org/officeDocument/2006/relationships/slide" Target="/ppt/slides/slide17.xml" Id="R66cfcfa1ef93465b" /><Relationship Type="http://schemas.openxmlformats.org/officeDocument/2006/relationships/slide" Target="/ppt/slides/slide18.xml" Id="R55b11143b9174b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9d6d25ea524d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b4b11a9b364657" /><Relationship Type="http://schemas.openxmlformats.org/officeDocument/2006/relationships/notesMaster" Target="/ppt/notesMasters/notesMaster1.xml" Id="R4ca0c27730dd40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3ffae16efa4fd7" /><Relationship Type="http://schemas.openxmlformats.org/officeDocument/2006/relationships/notesMaster" Target="/ppt/notesMasters/notesMaster1.xml" Id="Rde44987e49bd4e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b4d96a05b74e49" /><Relationship Type="http://schemas.openxmlformats.org/officeDocument/2006/relationships/notesMaster" Target="/ppt/notesMasters/notesMaster1.xml" Id="Rf8733bfa9bfa41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75e1f7f12b40d3" /><Relationship Type="http://schemas.openxmlformats.org/officeDocument/2006/relationships/notesMaster" Target="/ppt/notesMasters/notesMaster1.xml" Id="R81984764b95346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404789688048a3" /><Relationship Type="http://schemas.openxmlformats.org/officeDocument/2006/relationships/notesMaster" Target="/ppt/notesMasters/notesMaster1.xml" Id="R7e4ad3f7546244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e065bd691d4c40" /><Relationship Type="http://schemas.openxmlformats.org/officeDocument/2006/relationships/notesMaster" Target="/ppt/notesMasters/notesMaster1.xml" Id="Ra6eb008897f84e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805ca04c9e4801" /><Relationship Type="http://schemas.openxmlformats.org/officeDocument/2006/relationships/notesMaster" Target="/ppt/notesMasters/notesMaster1.xml" Id="Rb6483e1a88934b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dbcc4bf14b4f3f" /><Relationship Type="http://schemas.openxmlformats.org/officeDocument/2006/relationships/notesMaster" Target="/ppt/notesMasters/notesMaster1.xml" Id="Rce6045887c7d43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9964cf881540df" /><Relationship Type="http://schemas.openxmlformats.org/officeDocument/2006/relationships/notesMaster" Target="/ppt/notesMasters/notesMaster1.xml" Id="R53ef224df25c4b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dcf637453d4a2d" /><Relationship Type="http://schemas.openxmlformats.org/officeDocument/2006/relationships/notesMaster" Target="/ppt/notesMasters/notesMaster1.xml" Id="R141382b49cc347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c2e78282534b79" /><Relationship Type="http://schemas.openxmlformats.org/officeDocument/2006/relationships/notesMaster" Target="/ppt/notesMasters/notesMaster1.xml" Id="R48f1431f43f74c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ed277e10af40ac" /><Relationship Type="http://schemas.openxmlformats.org/officeDocument/2006/relationships/notesMaster" Target="/ppt/notesMasters/notesMaster1.xml" Id="R82154a038be84c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8df9b8f79e44d1" /><Relationship Type="http://schemas.openxmlformats.org/officeDocument/2006/relationships/notesMaster" Target="/ppt/notesMasters/notesMaster1.xml" Id="R2a8370391d5c44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a09e05b73d4d96" /><Relationship Type="http://schemas.openxmlformats.org/officeDocument/2006/relationships/notesMaster" Target="/ppt/notesMasters/notesMaster1.xml" Id="R62d5cbece7e54b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9b1d784bb6458b" /><Relationship Type="http://schemas.openxmlformats.org/officeDocument/2006/relationships/notesMaster" Target="/ppt/notesMasters/notesMaster1.xml" Id="R3455e4a7d8b944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82c18d65114ac7" /><Relationship Type="http://schemas.openxmlformats.org/officeDocument/2006/relationships/notesMaster" Target="/ppt/notesMasters/notesMaster1.xml" Id="R818ab915c8f143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faa658f7174595" /><Relationship Type="http://schemas.openxmlformats.org/officeDocument/2006/relationships/notesMaster" Target="/ppt/notesMasters/notesMaster1.xml" Id="R6db867b71d8241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1cbc6f01fa420f" /><Relationship Type="http://schemas.openxmlformats.org/officeDocument/2006/relationships/notesMaster" Target="/ppt/notesMasters/notesMaster1.xml" Id="R1ad3e96ee5114d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paper examines neutrality when government bodies appoint arbitrators in disputes with private contractors. The central distinction is between an arbitrator's personal eligibility and the fairness of the appointment process. Explain how the 2015 amendment and later Supreme Court decisions changed the treatment of serving officers, retired officials and departmental panels.</a:t>
            </a:r>
            <a:endParaRPr/>
          </a:p>
          <a:p xmlns:a="http://schemas.openxmlformats.org/drawingml/2006/main">
            <a:r>
              <a:t/>
            </a:r>
            <a:endParaRPr/>
          </a:p>
          <a:p xmlns:a="http://schemas.openxmlformats.org/drawingml/2006/main">
            <a:r>
              <a:t>Sources</a:t>
            </a:r>
            <a:endParaRPr/>
          </a:p>
          <a:p xmlns:a="http://schemas.openxmlformats.org/drawingml/2006/main">
            <a:r>
              <a:t>Source paper: ADR_Ritu.docx, Government Servants as Arbitrators: Neutrality Issues, Ritu Bhushan Prasad Tiwari.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a public works contract as the example. A private contractor disputes payment, but the contract names the department's Chief Engineer or Managing Director as the arbitrator. This creates a structural concern because one party has an institutional connection with the decision-maker. The paper follows the legal response to this concern, including restrictions on indirect control through nomination clauses and panels.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ADR_Ritu.docx, opening discussion.</a:t>
            </a:r>
            <a:endParaRPr/>
          </a:p>
          <a:p xmlns:a="http://schemas.openxmlformats.org/drawingml/2006/main">
            <a:pPr marL="0" lvl="0" indent="0" algn="l">
              <a:spcBef>
                <a:spcPts val="0"/>
              </a:spcBef>
              <a:spcAft>
                <a:spcPts val="0"/>
              </a:spcAft>
              <a:buNone/>
            </a:pPr>
            <a:r>
              <a:t>Law Commission of India, Report 246 (August 2014), paras 53–57: https://cdnbbsr.s3waas.gov.in/s3ca0daec69b5adc880fb464895726dbdf/uploads/2022/08/2022081615.pdf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Distinguish independence, which concerns relationships and external influence, from impartiality, which concerns the absence of bias. A relationship does not prove actual bias in every case, but the law can treat specified relationships as disqualifying. The later cases also ask whether one party's control over selection undermines the process even when the selected individual appears professionally qualified.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ADR_Ritu.docx, introduction and discussion of appointment mechanisms.</a:t>
            </a:r>
            <a:endParaRPr/>
          </a:p>
          <a:p xmlns:a="http://schemas.openxmlformats.org/drawingml/2006/main">
            <a:pPr marL="0" lvl="0" indent="0" algn="l">
              <a:spcBef>
                <a:spcPts val="0"/>
              </a:spcBef>
              <a:spcAft>
                <a:spcPts val="0"/>
              </a:spcAft>
              <a:buNone/>
            </a:pPr>
            <a:r>
              <a:t>CORE v. ECI-SPIC-SMO-MCML (JV), 2024 INSC 857, paras 169(a)–(e): https://api.sci.gov.in/supremecourt/2019/28531/28531_2019_1_1502_57055_Judgement_08-Nov-2024.pdf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Avoid saying that a party had to prove actual bias in every case. The Law Commission discussed Indian Oil Corporation v. Raja Transport, which accepted that employment alone did not establish bias but allowed departure from the contractual procedure where circumstances created justifiable apprehension. The reform addressed the tension between formal agreement and unequal bargaining power in standard government contracts.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Law Commission Report 246, paras 55–57, printed pp. 29–30: https://cdnbbsr.s3waas.gov.in/s3ca0daec69b5adc880fb464895726dbdf/uploads/2022/08/2022081615.pdf</a:t>
            </a:r>
            <a:endParaRPr/>
          </a:p>
          <a:p xmlns:a="http://schemas.openxmlformats.org/drawingml/2006/main">
            <a:pPr marL="0" lvl="0" indent="0" algn="l">
              <a:spcBef>
                <a:spcPts val="0"/>
              </a:spcBef>
              <a:spcAft>
                <a:spcPts val="0"/>
              </a:spcAft>
              <a:buNone/>
            </a:pPr>
            <a:r>
              <a:t>Indian Oil Corporation Ltd. v. Raja Transport (P) Ltd., (2009) 8 SCC 520, paras 34 and 48(vi)–(vii), discussed in that report.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Explain that the IBA Guidelines provide influential international guidance rather than binding Indian legislation. The Law Commission considered that parties may lack meaningful choice when accepting standard government contracts. Parliament introduced stronger protections through the Arbitration and Conciliation (Amendment) Act, 2015. Indian statutory ineligibility and the post-dispute waiver rule come from Section 12(5), not directly from the IBA lists.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Law Commission Report 246, paras 53–60, printed pp. 28–31: https://cdnbbsr.s3waas.gov.in/s3ca0daec69b5adc880fb464895726dbdf/uploads/2022/08/2022081615.pdf</a:t>
            </a:r>
            <a:endParaRPr/>
          </a:p>
          <a:p xmlns:a="http://schemas.openxmlformats.org/drawingml/2006/main">
            <a:pPr marL="0" lvl="0" indent="0" algn="l">
              <a:spcBef>
                <a:spcPts val="0"/>
              </a:spcBef>
              <a:spcAft>
                <a:spcPts val="0"/>
              </a:spcAft>
              <a:buNone/>
            </a:pPr>
            <a:r>
              <a:t>Arbitration and Conciliation Act, 1996, amended Section 12 and Schedules: https://www.indiacode.nic.in/bitstream/123456789/1978/1/A1996-26.pdf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distinction is central. The Fifth Schedule guides the assessment of justifiable doubts and supports the ordinary challenge mechanism. The Seventh Schedule creates legal ineligibility, subject to the specific written waiver allowed after the dispute. Section 12(1) requires disclosure, with the Sixth Schedule supplying its form. HRD Corporation explains the distinction between a fact-based impartiality challenge and a de jure inability to act under Section 14. Fifth Schedule items 1–19 also appear in the Seventh Schedule, so the statutory eligibility check remains essential.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Arbitration and Conciliation Act, Sections 12–14, Fifth, Sixth and Seventh Schedules: https://www.indiacode.nic.in/bitstream/123456789/1978/1/A1996-26.pdf</a:t>
            </a:r>
            <a:endParaRPr/>
          </a:p>
          <a:p xmlns:a="http://schemas.openxmlformats.org/drawingml/2006/main">
            <a:pPr marL="0" lvl="0" indent="0" algn="l">
              <a:spcBef>
                <a:spcPts val="0"/>
              </a:spcBef>
              <a:spcAft>
                <a:spcPts val="0"/>
              </a:spcAft>
              <a:buNone/>
            </a:pPr>
            <a:r>
              <a:t>HRD Corporation v. GAIL (India) Ltd., (2018) 12 SCC 471, original judgment para 13: https://api.sci.gov.in/supremecourt/2017/21831/21831_2017_Judgement_31-Aug-2017.pdf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full text of Seventh Schedule item 1 also addresses other past or present business relationships. Assess the actual relationship rather than treating every person with a government background alike. Section 12(5) operates notwithstanding a prior agreement to the contrary. Its proviso permits waiver only through an express written agreement after disputes have arisen. Bharat Broadband makes clear that the statutory waiver differs from the ordinary waiver by conduct under Section 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Arbitration and Conciliation Act, Section 12(5) and Seventh Schedule item 1: https://www.indiacode.nic.in/bitstream/123456789/1978/1/A1996-26.pdf</a:t>
            </a:r>
            <a:endParaRPr/>
          </a:p>
          <a:p xmlns:a="http://schemas.openxmlformats.org/drawingml/2006/main">
            <a:pPr marL="0" lvl="0" indent="0" algn="l">
              <a:spcBef>
                <a:spcPts val="0"/>
              </a:spcBef>
              <a:spcAft>
                <a:spcPts val="0"/>
              </a:spcAft>
              <a:buNone/>
            </a:pPr>
            <a:r>
              <a:t>Bharat Broadband Network Ltd. v. United Telecoms Ltd., (2019) 5 SCC 755, paras 17–20: https://api.sci.gov.in/supremecourt/2018/1070/1070_2018_Judgement_16-Apr-2019.pdf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TRF Ltd. v. Energo Engineering Projects Ltd. addressed a clause naming the Managing Director as arbitrator while permitting nomination of another person. Once the named arbitrator became ineligible, the Court held that the derivative nomination power could not survive. The practical effect is that changing the individual does not cure a mechanism that depends on an ineligible named officer. Perkins later addressed exclusive appointment authority even where the officer was never named as arbitrator.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TRF Ltd. v. Energo Engineering Projects Ltd., (2017) 8 SCC 377, paras 50 and 54.</a:t>
            </a:r>
            <a:endParaRPr/>
          </a:p>
          <a:p xmlns:a="http://schemas.openxmlformats.org/drawingml/2006/main">
            <a:pPr marL="0" lvl="0" indent="0" algn="l">
              <a:spcBef>
                <a:spcPts val="0"/>
              </a:spcBef>
              <a:spcAft>
                <a:spcPts val="0"/>
              </a:spcAft>
              <a:buNone/>
            </a:pPr>
            <a:r>
              <a:t>TRF holding reproduced in Bharat Broadband, para 13: https://api.sci.gov.in/supremecourt/2018/1070/1070_2018_Judgement_16-Apr-2019.pdf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Perkins Eastman Architects DPC v. HSCC (India) Ltd. extended the reasoning beyond the precise TRF clause. The objection arose from exclusive control over the sole appointment by a person interested in the dispute's outcome. Explain the contrast with a balanced three-member arrangement: each side may nominate an eligible member, but the whole procedure must still comply with statutory neutrality and equal treatment. Do not describe every two-party nomination clause as automatically valid.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Perkins Eastman Architects DPC v. HSCC (India) Ltd., (2020) 20 SCC 760, decided 26 November 2019, paras 20–21.</a:t>
            </a:r>
            <a:endParaRPr/>
          </a:p>
          <a:p xmlns:a="http://schemas.openxmlformats.org/drawingml/2006/main">
            <a:pPr marL="0" lvl="0" indent="0" algn="l">
              <a:spcBef>
                <a:spcPts val="0"/>
              </a:spcBef>
              <a:spcAft>
                <a:spcPts val="0"/>
              </a:spcAft>
              <a:buNone/>
            </a:pPr>
            <a:r>
              <a:t>Perkins passages reproduced in CORE 2019, paras 33–34: https://api.sci.gov.in/supremecourt/2019/28531/28531_2019_5_1501_19225_Judgement_17-Dec-2019.pdf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Bharat Broadband illustrates that the appointing party's own conduct cannot replace the statutory requirement. The Court distinguished an express post-dispute agreement from ordinary participation in proceedings. Its judgment treated the appointment as void ab initio, recognised that the arbitrator's mandate had terminated under Section 14 and set aside the subsequent awards. The practical lesson is to check the appointment at the start and document any legally permissible waiver in the required form.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Bharat Broadband Network Ltd. v. United Telecoms Ltd., (2019) 5 SCC 755, paras 17–20 and 22–23: https://api.sci.gov.in/supremecourt/2018/1070/1070_2018_Judgement_16-Apr-2019.pdf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Keep serving officers separate from retired professionals. Voestalpine considered retired government officers who had no employment connection with DMRC. Their government background did not by itself make them ineligible. Former employment and recent associations still require careful disclosure and assessment, and another Seventh Schedule category may apply. HRD is useful for distinguishing the two schedules, but its discussion of a retired judge's isolated legal opinion should not be presented as a blanket rule about all former employees.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Arbitration and Conciliation Act, Fifth Schedule item 31 and Seventh Schedule: https://www.indiacode.nic.in/bitstream/123456789/1978/1/A1996-26.pdf</a:t>
            </a:r>
            <a:endParaRPr/>
          </a:p>
          <a:p xmlns:a="http://schemas.openxmlformats.org/drawingml/2006/main">
            <a:pPr marL="0" lvl="0" indent="0" algn="l">
              <a:spcBef>
                <a:spcPts val="0"/>
              </a:spcBef>
              <a:spcAft>
                <a:spcPts val="0"/>
              </a:spcAft>
              <a:buNone/>
            </a:pPr>
            <a:r>
              <a:t>Voestalpine Schienen GmbH v. Delhi Metro Rail Corp. Ltd., (2017) 4 SCC 665, paras 25–26: https://www.scobserver.in/wp-content/uploads/2024/11/VOESTALPINE-SCHIENEN-judgement.pdf</a:t>
            </a:r>
            <a:endParaRPr/>
          </a:p>
          <a:p xmlns:a="http://schemas.openxmlformats.org/drawingml/2006/main">
            <a:pPr marL="0" lvl="0" indent="0" algn="l">
              <a:spcBef>
                <a:spcPts val="0"/>
              </a:spcBef>
              <a:spcAft>
                <a:spcPts val="0"/>
              </a:spcAft>
              <a:buNone/>
            </a:pPr>
            <a:r>
              <a:t>HRD original judgment, distinction between schedules at para 13: https://api.sci.gov.in/supremecourt/2017/21831/21831_2017_Judgement_31-Aug-2017.pdf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selected retired officers were not serving or former DMRC employees. The concern was the small shortlist and meaningful choice, not government service as such. The Court encouraged a broader panel, including professional expertise beyond government departments. The later CORE Constitution Bench judgment adds an essential qualification: maintaining a panel is permissible, but compelling the contractor to choose its nominee from that panel violates equal participation. Panel breadth alone does not cure that compulsion.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Voestalpine Schienen GmbH v. Delhi Metro Rail Corp. Ltd., (2017) 4 SCC 665, paras 25–30: https://www.scobserver.in/wp-content/uploads/2024/11/VOESTALPINE-SCHIENEN-judgement.pdf</a:t>
            </a:r>
            <a:endParaRPr/>
          </a:p>
          <a:p xmlns:a="http://schemas.openxmlformats.org/drawingml/2006/main">
            <a:pPr marL="0" lvl="0" indent="0" algn="l">
              <a:spcBef>
                <a:spcPts val="0"/>
              </a:spcBef>
              <a:spcAft>
                <a:spcPts val="0"/>
              </a:spcAft>
              <a:buNone/>
            </a:pPr>
            <a:r>
              <a:t>CORE, 2024 INSC 857, paras 132–137 and 169(b), (d): https://api.sci.gov.in/supremecourt/2019/28531/28531_2019_1_1502_57055_Judgement_08-Nov-2024.pdf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Central Organisation for Railway Electrification v. ECI-SPIC-SMO-MCML involved a three-member tribunal. The contractor selected at least two names from the railway panel, and the General Manager appointed one as the contractor's nominee while retaining other appointments. The 2019 judgment treated the mechanism as sufficiently balanced. Explain why this raised tension with TRF and Perkins: one contracting party still controlled the pool and had substantial influence over tribunal composition. The 2019 bench comprised three judges.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CORE v. ECI-SPIC-SMO-MCML (JV), (2020) 14 SCC 712, decided 17 December 2019: https://api.sci.gov.in/supremecourt/2019/28531/28531_2019_5_1501_19225_Judgement_17-Dec-2019.pdf</a:t>
            </a:r>
            <a:endParaRPr/>
          </a:p>
          <a:p xmlns:a="http://schemas.openxmlformats.org/drawingml/2006/main">
            <a:pPr marL="0" lvl="0" indent="0" algn="l">
              <a:spcBef>
                <a:spcPts val="0"/>
              </a:spcBef>
              <a:spcAft>
                <a:spcPts val="0"/>
              </a:spcAft>
              <a:buNone/>
            </a:pPr>
            <a:r>
              <a:t>CORE, 2024 INSC 857, para 11 and conclusions at para 169: https://api.sci.gov.in/supremecourt/2019/28531/28531_2019_1_1502_57055_Judgement_08-Nov-2024.pdf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five-judge Constitution Bench decided CORE on 8 November 2024. The majority held that Section 18 applies at the appointment stage, rejected compulsory choice from a PSU-curated panel and held that unilateral clauses in public-private contracts violate Article 14. The prospective direction applies specifically to three-member tribunal appointments after the judgment date. It does not postpone the established TRF and Perkins rules for sole arbitrators. Section 12(5)'s express post-dispute written waiver remains relevant. Bhadra International v. AAI, 2026 INSC 6, later reaffirmed the neutrality principles and rejected implied waiver through participation.</a:t>
            </a:r>
          </a:p>
          <a:p xmlns:a="http://schemas.openxmlformats.org/drawingml/2006/main">
            <a:r>
              <a:t/>
            </a:r>
          </a:p>
          <a:p xmlns:a="http://schemas.openxmlformats.org/drawingml/2006/main">
            <a:r>
              <a:t>Sources</a:t>
            </a:r>
          </a:p>
          <a:p xmlns:a="http://schemas.openxmlformats.org/drawingml/2006/main">
            <a:r>
              <a:t>CORE, 2024 INSC 857, paras 168 and 169(a)–(g): https://api.sci.gov.in/supremecourt/2019/28531/28531_2019_1_1502_57055_Judgement_08-Nov-2024.pdf</a:t>
            </a:r>
          </a:p>
          <a:p xmlns:a="http://schemas.openxmlformats.org/drawingml/2006/main">
            <a:r>
              <a:t>Signed court judgment copy used for verification: https://www.scobserver.in/wp-content/uploads/2024/11/Appointment-of-arbitrators-judgement-five-judge-bench.pdf</a:t>
            </a:r>
          </a:p>
          <a:p xmlns:a="http://schemas.openxmlformats.org/drawingml/2006/main">
            <a:r>
              <a:t>Bhadra International (India) (P) Ltd. v. AAI, 2026 INSC 6, paras 95–98 and 123–125: https://api.sci.gov.in/supremecourt/2025/25327/25327_2025_7_1502_67143_Judgement_05-Jan-2026.pdf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presents the paper's practical recommendations. Serving officers can retain their administrative and technical roles without adjudicating their employer's disputes. Retired experts can contribute when eligibility and disclosure requirements permit. Institutional arbitration can provide independent appointment procedures and rosters, but it is a practical option rather than a guarantee against every challenge. The core requirement is lawful eligibility and a procedure that gives both parties meaningful participation.</a:t>
            </a:r>
          </a:p>
          <a:p xmlns:a="http://schemas.openxmlformats.org/drawingml/2006/main">
            <a:r>
              <a:t/>
            </a:r>
          </a:p>
          <a:p xmlns:a="http://schemas.openxmlformats.org/drawingml/2006/main">
            <a:r>
              <a:t>Sources</a:t>
            </a:r>
          </a:p>
          <a:p xmlns:a="http://schemas.openxmlformats.org/drawingml/2006/main">
            <a:r>
              <a:t>ADR_Ritu.docx, Institutional Arbitration as the Path Forward.</a:t>
            </a:r>
          </a:p>
          <a:p xmlns:a="http://schemas.openxmlformats.org/drawingml/2006/main">
            <a:r>
              <a:t>Arbitration and Conciliation Act, Sections 12 and 18: https://www.indiacode.nic.in/bitstream/123456789/1978/1/A1996-26.pdf</a:t>
            </a:r>
          </a:p>
          <a:p xmlns:a="http://schemas.openxmlformats.org/drawingml/2006/main">
            <a:r>
              <a:t>CORE, 2024 INSC 857, para 169: https://api.sci.gov.in/supremecourt/2019/28531/28531_2019_1_1502_57055_Judgement_08-Nov-2024.pdf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Close by returning to the paper's central tension. Administrative convenience and expertise cannot override the statutory safeguards. Explain the three questions the audience should remember: Is the proposed arbitrator eligible? Have relevant circumstances been disclosed and assessed? Does the appointment process give both sides equal participation? Invite questions after stating that the modern framework protects neutrality at both the individual and institutional levels.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ADR_Ritu.docx, conclusion.</a:t>
            </a:r>
            <a:endParaRPr/>
          </a:p>
          <a:p xmlns:a="http://schemas.openxmlformats.org/drawingml/2006/main">
            <a:pPr marL="0" lvl="0" indent="0" algn="l">
              <a:spcBef>
                <a:spcPts val="0"/>
              </a:spcBef>
              <a:spcAft>
                <a:spcPts val="0"/>
              </a:spcAft>
              <a:buNone/>
            </a:pPr>
            <a:r>
              <a:t>Arbitration and Conciliation Act, Sections 12–14 and 18: https://www.indiacode.nic.in/bitstream/123456789/1978/1/A1996-26.pdf</a:t>
            </a:r>
            <a:endParaRPr/>
          </a:p>
          <a:p xmlns:a="http://schemas.openxmlformats.org/drawingml/2006/main">
            <a:pPr marL="0" lvl="0" indent="0" algn="l">
              <a:spcBef>
                <a:spcPts val="0"/>
              </a:spcBef>
              <a:spcAft>
                <a:spcPts val="0"/>
              </a:spcAft>
              <a:buNone/>
            </a:pPr>
            <a:r>
              <a:t>CORE, 2024 INSC 857, para 169: https://api.sci.gov.in/supremecourt/2019/28531/28531_2019_1_1502_57055_Judgement_08-Nov-2024.pdf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India Code link provides the statutory text. Report 246 explains the policy concerns and international guidance behind the reform. The full source links and judgment pinpoints appear in the notes to the relevant slides. The presentation draws its structure and argument from Ritu Bhushan Prasad Tiwari's supplied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India Code statutory text: https://www.indiacode.nic.in/bitstream/123456789/1978/1/A1996-26.pdf</a:t>
            </a:r>
            <a:endParaRPr/>
          </a:p>
          <a:p xmlns:a="http://schemas.openxmlformats.org/drawingml/2006/main">
            <a:pPr marL="0" lvl="0" indent="0" algn="l">
              <a:spcBef>
                <a:spcPts val="0"/>
              </a:spcBef>
              <a:spcAft>
                <a:spcPts val="0"/>
              </a:spcAft>
              <a:buNone/>
            </a:pPr>
            <a:r>
              <a:t>Law Commission Report 246: https://cdnbbsr.s3waas.gov.in/s3ca0daec69b5adc880fb464895726dbdf/uploads/2022/08/2022081615.pdf</a:t>
            </a:r>
            <a:endParaRPr/>
          </a:p>
          <a:p xmlns:a="http://schemas.openxmlformats.org/drawingml/2006/main">
            <a:pPr marL="0" lvl="0" indent="0" algn="l">
              <a:spcBef>
                <a:spcPts val="0"/>
              </a:spcBef>
              <a:spcAft>
                <a:spcPts val="0"/>
              </a:spcAft>
              <a:buNone/>
            </a:pPr>
            <a:r>
              <a:t>Source paper: ADR_Ritu.docx.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Some reported citations use a later year than the decision date: HRD was decided in 2017 and Perkins in 2019. CORE's earlier decision dates to 2019. The substantive slides use decision years. These reference entries use the reported citation years. A later confirming authority is Bhadra International v. AAI, 2026 INSC 6, discussed in the notes to the CORE 2024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HRD official judgment: https://api.sci.gov.in/supremecourt/2017/21831/21831_2017_Judgement_31-Aug-2017.pdf</a:t>
            </a:r>
            <a:endParaRPr/>
          </a:p>
          <a:p xmlns:a="http://schemas.openxmlformats.org/drawingml/2006/main">
            <a:pPr marL="0" lvl="0" indent="0" algn="l">
              <a:spcBef>
                <a:spcPts val="0"/>
              </a:spcBef>
              <a:spcAft>
                <a:spcPts val="0"/>
              </a:spcAft>
              <a:buNone/>
            </a:pPr>
            <a:r>
              <a:t>Bharat Broadband official judgment: https://api.sci.gov.in/supremecourt/2018/1070/1070_2018_Judgement_16-Apr-2019.pdf</a:t>
            </a:r>
            <a:endParaRPr/>
          </a:p>
          <a:p xmlns:a="http://schemas.openxmlformats.org/drawingml/2006/main">
            <a:pPr marL="0" lvl="0" indent="0" algn="l">
              <a:spcBef>
                <a:spcPts val="0"/>
              </a:spcBef>
              <a:spcAft>
                <a:spcPts val="0"/>
              </a:spcAft>
              <a:buNone/>
            </a:pPr>
            <a:r>
              <a:t>CORE 2019 official judgment, reproducing Perkins: https://api.sci.gov.in/supremecourt/2019/28531/28531_2019_5_1501_19225_Judgement_17-Dec-2019.pdf</a:t>
            </a:r>
            <a:endParaRPr/>
          </a:p>
          <a:p xmlns:a="http://schemas.openxmlformats.org/drawingml/2006/main">
            <a:pPr marL="0" lvl="0" indent="0" algn="l">
              <a:spcBef>
                <a:spcPts val="0"/>
              </a:spcBef>
              <a:spcAft>
                <a:spcPts val="0"/>
              </a:spcAft>
              <a:buNone/>
            </a:pPr>
            <a:r>
              <a:t>CORE 2024 official judgment: https://api.sci.gov.in/supremecourt/2019/28531/28531_2019_1_1502_57055_Judgement_08-Nov-2024.pdf</a:t>
            </a:r>
            <a:endParaRPr/>
          </a:p>
          <a:p xmlns:a="http://schemas.openxmlformats.org/drawingml/2006/main">
            <a:pPr marL="0" lvl="0" indent="0" algn="l">
              <a:spcBef>
                <a:spcPts val="0"/>
              </a:spcBef>
              <a:spcAft>
                <a:spcPts val="0"/>
              </a:spcAft>
              <a:buNone/>
            </a:pPr>
            <a:r>
              <a:t>Voestalpine signed judgment copy: https://www.scobserver.in/wp-content/uploads/2024/11/VOESTALPINE-SCHIENEN-judgement.pdf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71db6215ee4e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908e5220f24f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f993d004cf4b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b2c156e8f447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6166b0d9b045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56d6e0cbed414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3fd056a37d44f1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57c2da90c7949b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6f696251d642ea" /><Relationship Type="http://schemas.openxmlformats.org/officeDocument/2006/relationships/slideLayout" Target="/ppt/slideLayouts/slideLayout1.xml" Id="Rb70363e10ca54e8c" /><Relationship Type="http://schemas.openxmlformats.org/officeDocument/2006/relationships/slideLayout" Target="/ppt/slideLayouts/slideLayout2.xml" Id="R593d74e1652b4e4c" /><Relationship Type="http://schemas.openxmlformats.org/officeDocument/2006/relationships/slideLayout" Target="/ppt/slideLayouts/slideLayout3.xml" Id="R8447cfe03315424a" /><Relationship Type="http://schemas.openxmlformats.org/officeDocument/2006/relationships/slideLayout" Target="/ppt/slideLayouts/slideLayout4.xml" Id="R1b033333824a4aab" /><Relationship Type="http://schemas.openxmlformats.org/officeDocument/2006/relationships/slideLayout" Target="/ppt/slideLayouts/slideLayout5.xml" Id="R81820146ad0e4bd9" /><Relationship Type="http://schemas.openxmlformats.org/officeDocument/2006/relationships/slideLayout" Target="/ppt/slideLayouts/slideLayout6.xml" Id="R4faa4da710ee4837" /><Relationship Type="http://schemas.openxmlformats.org/officeDocument/2006/relationships/slideLayout" Target="/ppt/slideLayouts/slideLayout7.xml" Id="Rfd67599cd69e47a5" /><Relationship Type="http://schemas.openxmlformats.org/officeDocument/2006/relationships/slideLayout" Target="/ppt/slideLayouts/slideLayout8.xml" Id="Rb251a5acbdcb46c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0363e10ca54e8c"/>
    <p:sldLayoutId xmlns:r="http://schemas.openxmlformats.org/officeDocument/2006/relationships" id="2147483650" r:id="R593d74e1652b4e4c"/>
    <p:sldLayoutId xmlns:r="http://schemas.openxmlformats.org/officeDocument/2006/relationships" id="2147483651" r:id="R8447cfe03315424a"/>
    <p:sldLayoutId xmlns:r="http://schemas.openxmlformats.org/officeDocument/2006/relationships" id="2147483652" r:id="R1b033333824a4aab"/>
    <p:sldLayoutId xmlns:r="http://schemas.openxmlformats.org/officeDocument/2006/relationships" id="2147483653" r:id="R81820146ad0e4bd9"/>
    <p:sldLayoutId xmlns:r="http://schemas.openxmlformats.org/officeDocument/2006/relationships" id="2147483654" r:id="R4faa4da710ee4837"/>
    <p:sldLayoutId xmlns:r="http://schemas.openxmlformats.org/officeDocument/2006/relationships" id="2147483655" r:id="Rfd67599cd69e47a5"/>
    <p:sldLayoutId xmlns:r="http://schemas.openxmlformats.org/officeDocument/2006/relationships" id="2147483656" r:id="Rb251a5acbdcb46c1"/>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fc216755be48a0" /><Relationship Type="http://schemas.openxmlformats.org/officeDocument/2006/relationships/notesSlide" Target="/ppt/notesSlides/notesSlide1.xml" Id="R9ef7fff14a6244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4501793b10412e" /><Relationship Type="http://schemas.openxmlformats.org/officeDocument/2006/relationships/notesSlide" Target="/ppt/notesSlides/notesSlide2.xml" Id="Rf55966ad3a5a4b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732b470c69437b" /><Relationship Type="http://schemas.openxmlformats.org/officeDocument/2006/relationships/notesSlide" Target="/ppt/notesSlides/notesSlide3.xml" Id="Reb8d2fadbaf341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a2acc2240c412f" /><Relationship Type="http://schemas.openxmlformats.org/officeDocument/2006/relationships/notesSlide" Target="/ppt/notesSlides/notesSlide4.xml" Id="R96fcf4fb0dca43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b83709b5534cbd" /><Relationship Type="http://schemas.openxmlformats.org/officeDocument/2006/relationships/notesSlide" Target="/ppt/notesSlides/notesSlide5.xml" Id="R8adbf3de89ae40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2286ac4f754a41" /><Relationship Type="http://schemas.openxmlformats.org/officeDocument/2006/relationships/notesSlide" Target="/ppt/notesSlides/notesSlide6.xml" Id="Re597e3dcd71044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ca3b6738aa14dc0" /><Relationship Type="http://schemas.openxmlformats.org/officeDocument/2006/relationships/notesSlide" Target="/ppt/notesSlides/notesSlide7.xml" Id="R31ea73a4a8734a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b1520f606db4a93" /><Relationship Type="http://schemas.openxmlformats.org/officeDocument/2006/relationships/notesSlide" Target="/ppt/notesSlides/notesSlide8.xml" Id="R2307651d6ea44e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80c912eb97e4a95" /><Relationship Type="http://schemas.openxmlformats.org/officeDocument/2006/relationships/notesSlide" Target="/ppt/notesSlides/notesSlide9.xml" Id="R87b13e1ca8134c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25f153a7c2e4ad4" /><Relationship Type="http://schemas.openxmlformats.org/officeDocument/2006/relationships/notesSlide" Target="/ppt/notesSlides/notesSlide10.xml" Id="Re45cd0a1a29a40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5b4346fd6b4b3b" /><Relationship Type="http://schemas.openxmlformats.org/officeDocument/2006/relationships/notesSlide" Target="/ppt/notesSlides/notesSlide11.xml" Id="Rd92f46df3d594d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883d07f46294938" /><Relationship Type="http://schemas.openxmlformats.org/officeDocument/2006/relationships/notesSlide" Target="/ppt/notesSlides/notesSlide12.xml" Id="Rffd720c8d6f94c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35d64a537d441f8" /><Relationship Type="http://schemas.openxmlformats.org/officeDocument/2006/relationships/notesSlide" Target="/ppt/notesSlides/notesSlide13.xml" Id="R4e109f6af6c042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d25f4aeb9164756" /><Relationship Type="http://schemas.openxmlformats.org/officeDocument/2006/relationships/notesSlide" Target="/ppt/notesSlides/notesSlide14.xml" Id="Ra9ebbc5e4b3d46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1f9cd2f149342d6" /><Relationship Type="http://schemas.openxmlformats.org/officeDocument/2006/relationships/notesSlide" Target="/ppt/notesSlides/notesSlide15.xml" Id="Ree4f7388b08048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69aacb6b8484a7f" /><Relationship Type="http://schemas.openxmlformats.org/officeDocument/2006/relationships/notesSlide" Target="/ppt/notesSlides/notesSlide16.xml" Id="R9bda703b47f74a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fa3cbcf337346e9" /><Relationship Type="http://schemas.openxmlformats.org/officeDocument/2006/relationships/notesSlide" Target="/ppt/notesSlides/notesSlide17.xml" Id="R2403b6d3007f45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fcd43885a1a4260" /><Relationship Type="http://schemas.openxmlformats.org/officeDocument/2006/relationships/notesSlide" Target="/ppt/notesSlides/notesSlide18.xml" Id="Rf3727099e3fe43c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wrap="square" lIns="0" tIns="0" rIns="0" bIns="0" anchor="t">
            <a:noAutofit/>
          </a:bodyPr>
          <a:lstStyle xmlns:a="http://schemas.openxmlformats.org/drawingml/2006/main">
            <a:defPPr algn="l">
              <a:defRPr sz="7200">
                <a:solidFill>
                  <a:srgbClr val="000000"/>
                </a:solidFill>
                <a:latin typeface="Helvetica Neue"/>
                <a:ea typeface="Helvetica Neue"/>
                <a:cs typeface="Helvetica Neue"/>
              </a:defRPr>
            </a:defPPr>
          </a:lstStyle>
          <a:p xmlns:a="http://schemas.openxmlformats.org/drawingml/2006/main">
            <a:pPr algn="l">
              <a:defRPr sz="7200">
                <a:solidFill>
                  <a:srgbClr val="000000"/>
                </a:solidFill>
                <a:latin typeface="Helvetica Neue"/>
                <a:ea typeface="Helvetica Neue"/>
                <a:cs typeface="Helvetica Neue"/>
              </a:defRPr>
            </a:pPr>
            <a:r>
              <a:rPr sz="7200">
                <a:solidFill>
                  <a:srgbClr val="000000"/>
                </a:solidFill>
                <a:latin typeface="Helvetica Neue"/>
                <a:ea typeface="Helvetica Neue"/>
                <a:cs typeface="Helvetica Neue"/>
              </a:rPr>
              <a:t>Government Servants</a:t>
            </a:r>
          </a:p>
          <a:p xmlns:a="http://schemas.openxmlformats.org/drawingml/2006/main">
            <a:pPr algn="l">
              <a:defRPr sz="7200">
                <a:solidFill>
                  <a:srgbClr val="000000"/>
                </a:solidFill>
                <a:latin typeface="Helvetica Neue"/>
                <a:ea typeface="Helvetica Neue"/>
                <a:cs typeface="Helvetica Neue"/>
              </a:defRPr>
            </a:pPr>
            <a:r>
              <a:rPr sz="7200">
                <a:solidFill>
                  <a:srgbClr val="000000"/>
                </a:solidFill>
                <a:latin typeface="Helvetica Neue"/>
                <a:ea typeface="Helvetica Neue"/>
                <a:cs typeface="Helvetica Neue"/>
              </a:rPr>
              <a:t>as Arbitrators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10287000" cy="1476375"/>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algn="l">
              <a:lnSpc>
                <a:spcPct val="100000"/>
              </a:lnSpc>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Neutrality Issues</a:t>
            </a:r>
          </a:p>
          <a:p xmlns:a="http://schemas.openxmlformats.org/drawingml/2006/main">
            <a:pPr algn="l">
              <a:lnSpc>
                <a:spcPct val="100000"/>
              </a:lnSpc>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Ritu Bhushan Prasad Tiwari   24IP63032</a:t>
            </a:r>
          </a:p>
          <a:p xmlns:a="http://schemas.openxmlformats.org/drawingml/2006/main">
            <a:pPr algn="l">
              <a:lnSpc>
                <a:spcPct val="100000"/>
              </a:lnSpc>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Rajiv Gandhi School of Intellectual Property Law, IIT Kharagpur</a:t>
            </a:r>
          </a:p>
          <a:p xmlns:a="http://schemas.openxmlformats.org/drawingml/2006/main">
            <a:pPr algn="l">
              <a:lnSpc>
                <a:spcPct val="100000"/>
              </a:lnSpc>
              <a:buNone/>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Submitted to: Dr. S. R. Subramanian</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10477500" cy="649159"/>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l">
              <a:defRPr sz="18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Alternate Dispute Resolution Assignment</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E2598689-54C9-18A7-3A19-ED76AA08988F}" type="slidenum">
              <a:rPr sz="1000">
                <a:solidFill>
                  <a:srgbClr val="000000"/>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central issue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contractual practice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Government contracts often named a departmental officer as arbitrator.</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Technical knowledge and administrative convenience supported this practice.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neutrality concern</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government was both a contracting party and the appointing authority.</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paper asks how the law protects independent adjudication and fair participation.</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202359C0-8A7A-196E-DD58-8E6569619F09}" type="slidenum">
              <a:rPr sz="1000">
                <a:solidFill>
                  <a:srgbClr val="000000"/>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Why neutrality matters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1800">
                <a:latin typeface="Helvetica Neue"/>
                <a:ea typeface="Helvetica Neue"/>
                <a:cs typeface="Helvetica Neue"/>
              </a:rPr>
              <a:t>Independent judgment</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Arbitrators decide contractual rights and liabilities.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Relationships with a party can raise doubts about impartiality.</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1800">
                <a:latin typeface="Helvetica Neue"/>
                <a:ea typeface="Helvetica Neue"/>
                <a:cs typeface="Helvetica Neue"/>
              </a:rPr>
              <a:t>Fair appointment</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Neutrality also depends on how the tribunal is selected.</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Both parties need a fair opportunity to participate.</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1800">
                <a:latin typeface="Helvetica Neue"/>
                <a:ea typeface="Helvetica Neue"/>
                <a:cs typeface="Helvetica Neue"/>
              </a:rPr>
              <a:t>Natural justice</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Nemo judex in causa sua means no one should judge their own cause.</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The principle explains the concern with interested decision-makers.</a:t>
            </a:r>
          </a:p>
        </p:txBody>
      </p:sp>
    </p:spTree>
    <p:extLst>
      <p:ext uri="{BB962C8B-B14F-4D97-AF65-F5344CB8AC3E}">
        <p14:creationId xmlns:p14="http://schemas.microsoft.com/office/powerpoint/2010/main" val="13934569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EFD6AB9A-5F9E-5F59-51AB-3C8734130965}" type="slidenum">
              <a:rPr sz="1000">
                <a:solidFill>
                  <a:srgbClr val="000000"/>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position before 2015</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Contractual autonomy</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Courts generally respected the agreed appointment procedure.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Employment by a party did not, by itself, disqualify an arbitrator.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practical difficulty</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Contractors often accepted clauses drafted by government bodies.</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Courts could depart from the agreed clause where circumstances created justifiable apprehension of bias.</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EE5B3003-2C54-13C6-9832-7637201064DE}" type="slidenum">
              <a:rPr sz="1000">
                <a:solidFill>
                  <a:srgbClr val="000000"/>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Law Commission’s reform proposal</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246th Report, 2014</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Commission identified concerns with one-sided appointment clauses.</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It treated independence and impartiality as essential safeguards.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International guidance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report drew on the IBA Guidelines on Conflicts of Interest.</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Its proposals informed the stronger statutory framework introduced in 2015.</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8C630A04-5A25-9E0C-9436-126091DB86B3}" type="slidenum">
              <a:rPr sz="1000">
                <a:solidFill>
                  <a:srgbClr val="000000"/>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2015 framework: two consequences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Fifth Schedule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Circumstances may create justifiable doubts about independence or impartiality.</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Section 12 requires disclosure. Section 13 provides the challenge procedure.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 Fifth Schedule ground alone does not create automatic ineligibility.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Seventh Schedule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Specified relationships trigger statutory ineligibility under Section 12(5).</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 contrary appointment clause cannot override the rule.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Section 14 addresses termination of the mandate where the issue arises.</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D3D7D1C8-AE23-AA48-DF65-C742588DBE47}" type="slidenum">
              <a:rPr sz="1000">
                <a:solidFill>
                  <a:srgbClr val="000000"/>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Section 12(5): eligibility and waiver</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statutory bar</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Seventh Schedule item 1 covers employees, consultants and advisers of a party.</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 serving officer cannot ordinarily arbitrate a dispute involving that officer’s employer.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narrow waiver</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Both parties must expressly agree in writing after the dispute arises.</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 clause in the original contract, silence or participation alone does not establish this waiver.</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BA58DA2A-B818-18A9-29C1-B697728D5BCE}" type="slidenum">
              <a:rPr sz="1000">
                <a:solidFill>
                  <a:srgbClr val="000000"/>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TRF: an ineligible officer cannot nominate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clause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Managing Director could act as sole arbitrator or nominate another person.</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amended law made the Managing Director ineligible to act.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holding, 2017</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ineligible Managing Director could not nominate a substitute sole arbitrator.</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nomination power could not preserve the disqualified appointment mechanism.</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388657AE-30A1-5A7A-6A7F-315D84436430}" type="slidenum">
              <a:rPr sz="1000">
                <a:solidFill>
                  <a:srgbClr val="000000"/>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Perkins: unilateral sole appointments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A different clause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official only appointed the sole arbitrator.</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clause did not name the official as the arbitrator.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holding, 2019</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An interested party cannot exclusively choose the sole arbitrator.</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Party-nominated three-member tribunals still require a balanced, lawful selection process.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DB7BEEEC-A170-5376-2B6E-CB54687B0CB1}" type="slidenum">
              <a:rPr sz="1000">
                <a:solidFill>
                  <a:srgbClr val="000000"/>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Bharat Broadband: express waiver is essential</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dispute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government entity challenged an appointment it had made under its existing clause.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contractor relied on that appointment and the parties’ participation.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holding, 2019</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Participation did not satisfy the express written waiver required by Section 12(5).</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appointment was void from inception. The mandate had terminated, and the Court set aside the resulting awards.</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30394428-F1DC-E5F6-DB0C-7DE31F3D8A23}" type="slidenum">
              <a:rPr sz="1000">
                <a:solidFill>
                  <a:srgbClr val="000000"/>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Retired officials: the relationship matters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Retirement alone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 public-sector background does not itself establish statutory ineligibility.</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Continuing relationships or involvement in the dispute can still trigger the Seventh Schedule.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Disclosure and assessment</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Fifth Schedule item 31 covers recent professional association, including former employment within three years.</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This creates a disclosure and challenge issue, rather than an automatic three-year bar.</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4DB16885-0D3F-A391-B669-3211DB3B26E8}" type="slidenum">
              <a:rPr sz="1000">
                <a:solidFill>
                  <a:srgbClr val="000000"/>
                </a:solidFill>
                <a:latin typeface="Helvetica Neue"/>
                <a:ea typeface="Helvetica Neue"/>
                <a:cs typeface="Helvetica Neue"/>
              </a:rPr>
              <a:t>12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Voestalpine: expertise and meaningful choice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panel issue, 2017</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DMRC initially offered only five names from a larger panel.</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Court accepted technical expertise but criticised the restricted choice.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guidance</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Panels should include a broader range of qualified professionals.</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CORE 2024 later clarified that a PSU cannot compel selection from its own panel, even if the panel is broad.</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2DD23107-4986-8758-3A93-3D74F35908CC}" type="slidenum">
              <a:rPr sz="1000">
                <a:solidFill>
                  <a:srgbClr val="000000"/>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CORE 2019: the tension over railway panels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appointment mechanism</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Railways supplied a panel of retired railway officers.</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contractor’s choice operated within that mechanism, while the General Manager retained appointment powers.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The conflicting approach</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 three-judge bench upheld the arrangement in 2019.</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The 2024 Constitution Bench overruled that position and reinforced equality at the appointment stage.</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327921A4-25C4-3DB4-06B1-32693CEE2241}" type="slidenum">
              <a:rPr sz="1000">
                <a:solidFill>
                  <a:srgbClr val="000000"/>
                </a:solidFill>
                <a:latin typeface="Helvetica Neue"/>
                <a:ea typeface="Helvetica Neue"/>
                <a:cs typeface="Helvetica Neue"/>
              </a:rPr>
              <a:t>14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CORE 2024: equality begins at appointment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2400">
                <a:latin typeface="Helvetica Neue"/>
                <a:ea typeface="Helvetica Neue"/>
                <a:cs typeface="Helvetica Neue"/>
              </a:rPr>
              <a:t>Equal participation</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Section 18 applies when constituting the tribunal.</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Public–private clauses must also satisfy Article 14.</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2400">
                <a:latin typeface="Helvetica Neue"/>
                <a:ea typeface="Helvetica Neue"/>
                <a:cs typeface="Helvetica Neue"/>
              </a:rPr>
              <a:t>Panel restrictions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A PSU may maintain an arbitrator panel.</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It cannot compel the contractor to select its nominee from that panel.</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2400">
                <a:latin typeface="Helvetica Neue"/>
                <a:ea typeface="Helvetica Neue"/>
                <a:cs typeface="Helvetica Neue"/>
              </a:rPr>
              <a:t>Sole appointments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An interested party cannot exclusively appoint the sole arbitrator.</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The Court upheld the TRF and Perkins principles.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2400">
                <a:latin typeface="Helvetica Neue"/>
                <a:ea typeface="Helvetica Neue"/>
                <a:cs typeface="Helvetica Neue"/>
              </a:rPr>
              <a:t>Prospective scope</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The prospective direction concerns three-member tribunals.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It applies to appointments after 8 November 2024.</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lIns="0" tIns="0" rIns="0" bIns="0">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EA83FA91-883A-0168-8075-96CEB9DCA3C2}" type="slidenum">
              <a:rPr sz="1000">
                <a:solidFill>
                  <a:srgbClr val="000000"/>
                </a:solidFill>
                <a:latin typeface="Helvetica Neue"/>
                <a:ea typeface="Helvetica Neue"/>
                <a:cs typeface="Helvetica Neue"/>
              </a:rPr>
              <a:t>15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 fairer appointment process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2400">
                <a:latin typeface="Helvetica Neue"/>
                <a:ea typeface="Helvetica Neue"/>
                <a:cs typeface="Helvetica Neue"/>
              </a:rPr>
              <a:t>Eligibility checks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Review clauses against Section 12(5).</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Check each proposed arbitrator’s relationships.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2400">
                <a:latin typeface="Helvetica Neue"/>
                <a:ea typeface="Helvetica Neue"/>
                <a:cs typeface="Helvetica Neue"/>
              </a:rPr>
              <a:t>Clear disclosure</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Obtain written conflict disclosures.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Assess recent associations and involvement in the dispute.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2400">
                <a:latin typeface="Helvetica Neue"/>
                <a:ea typeface="Helvetica Neue"/>
                <a:cs typeface="Helvetica Neue"/>
              </a:rPr>
              <a:t>Balanced selection</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Give both parties a fair role in appointments.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Avoid unilateral sole appointments and compulsory PSU panels.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2400">
                <a:latin typeface="Helvetica Neue"/>
                <a:ea typeface="Helvetica Neue"/>
                <a:cs typeface="Helvetica Neue"/>
              </a:rPr>
              <a:t>Institutional arbitration</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Consider independent administration of appointments.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Neutral procedures can reduce appointment disputes.</a:t>
            </a: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DC9C7607-4BA3-B4DC-A00F-2E67A9FCFF7E}" type="slidenum">
              <a:rPr sz="1000">
                <a:solidFill>
                  <a:srgbClr val="000000"/>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Conclusion</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1800">
                <a:latin typeface="Helvetica Neue"/>
                <a:ea typeface="Helvetica Neue"/>
                <a:cs typeface="Helvetica Neue"/>
              </a:rPr>
              <a:t>Expertise remains useful</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Government and retired professionals can offer valuable technical knowledge.</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Their role must comply with the legal safeguards.</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1800">
                <a:latin typeface="Helvetica Neue"/>
                <a:ea typeface="Helvetica Neue"/>
                <a:cs typeface="Helvetica Neue"/>
              </a:rPr>
              <a:t>A credible process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Fair appointments support confidence in arbitration.</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Both impartial arbitrators and balanced selection matter.</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wrap="square" lIns="0" tIns="0" rIns="0" bIns="0" anchor="t">
            <a:noAutofit/>
          </a:bodyPr>
          <a:lstStyle xmlns:a="http://schemas.openxmlformats.org/drawingml/2006/main">
            <a:defPPr algn="l">
              <a:defRPr sz="1800">
                <a:solidFill>
                  <a:srgbClr val="000000"/>
                </a:solidFill>
                <a:latin typeface="Helvetica Neue"/>
                <a:ea typeface="Helvetica Neue"/>
                <a:cs typeface="Helvetica Neue"/>
              </a:defRPr>
            </a:defPPr>
          </a:lstStyle>
          <a:p xmlns:a="http://schemas.openxmlformats.org/drawingml/2006/main">
            <a:pPr marL="0" indent="0" algn="l">
              <a:lnSpc>
                <a:spcPct val="114000"/>
              </a:lnSpc>
              <a:spcBef>
                <a:spcPts val="0"/>
              </a:spcBef>
              <a:spcAft>
                <a:spcPts val="800"/>
              </a:spcAft>
              <a:buNone/>
              <a:defRPr sz="1800">
                <a:solidFill>
                  <a:srgbClr val="000000"/>
                </a:solidFill>
                <a:latin typeface="Helvetica Neue"/>
                <a:ea typeface="Helvetica Neue"/>
                <a:cs typeface="Helvetica Neue"/>
              </a:defRPr>
            </a:pPr>
            <a:r>
              <a:rPr sz="1800">
                <a:latin typeface="Helvetica Neue"/>
                <a:ea typeface="Helvetica Neue"/>
                <a:cs typeface="Helvetica Neue"/>
              </a:rPr>
              <a:t>Distinct safeguards</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Eligibility determines who may act.</a:t>
            </a:r>
          </a:p>
          <a:p xmlns:a="http://schemas.openxmlformats.org/drawingml/2006/main">
            <a:pPr marL="0" indent="0" algn="l">
              <a:lnSpc>
                <a:spcPct val="114000"/>
              </a:lnSpc>
              <a:spcBef>
                <a:spcPts val="0"/>
              </a:spcBef>
              <a:spcAft>
                <a:spcPts val="1000"/>
              </a:spcAft>
              <a:buNone/>
              <a:defRPr sz="1800">
                <a:solidFill>
                  <a:srgbClr val="000000"/>
                </a:solidFill>
                <a:latin typeface="Helvetica Neue"/>
                <a:ea typeface="Helvetica Neue"/>
                <a:cs typeface="Helvetica Neue"/>
              </a:defRPr>
            </a:pPr>
            <a:r>
              <a:rPr sz="1800">
                <a:latin typeface="Helvetica Neue"/>
                <a:ea typeface="Helvetica Neue"/>
                <a:cs typeface="Helvetica Neue"/>
              </a:rPr>
              <a:t>Disclosure and challenge address potential conflicts.</a:t>
            </a:r>
          </a:p>
        </p:txBody>
      </p:sp>
    </p:spTree>
    <p:extLst>
      <p:ext uri="{BB962C8B-B14F-4D97-AF65-F5344CB8AC3E}">
        <p14:creationId xmlns:p14="http://schemas.microsoft.com/office/powerpoint/2010/main" val="139345699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90F7333B-44AC-F7E9-D49D-FE92F45E0477}" type="slidenum">
              <a:rPr sz="1000">
                <a:solidFill>
                  <a:srgbClr val="000000"/>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References: statute and reform</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Statutory framework</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Arbitration and Conciliation Act, 1996</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Sections 12, 13, 14 and 18</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Fifth, Sixth and Seventh Schedules</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Arbitration and Conciliation (Amendment) Act, 2015</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Policy background</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Law Commission of India, Report 246, August 2014</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Amendments to the Arbitration and Conciliation Act, 1996</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IBA Guidelines on Conflicts of Interest in International Arbitration, as discussed in the report</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defPPr algn="r">
              <a:defRPr sz="1000">
                <a:solidFill>
                  <a:srgbClr val="000000"/>
                </a:solidFill>
                <a:latin typeface="Helvetica Neue"/>
                <a:ea typeface="Helvetica Neue"/>
                <a:cs typeface="Helvetica Neue"/>
              </a:defRPr>
            </a:defPPr>
          </a:lstStyle>
          <a:p xmlns:a="http://schemas.openxmlformats.org/drawingml/2006/main">
            <a:pPr algn="r">
              <a:defRPr sz="1000">
                <a:solidFill>
                  <a:srgbClr val="000000"/>
                </a:solidFill>
                <a:latin typeface="Helvetica Neue"/>
                <a:ea typeface="Helvetica Neue"/>
                <a:cs typeface="Helvetica Neue"/>
              </a:defRPr>
            </a:pPr>
            <a:fld id="{B1C6C81E-38B9-7560-621D-5A151A79DF9B}" type="slidenum">
              <a:rPr sz="1000">
                <a:solidFill>
                  <a:srgbClr val="000000"/>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defPPr algn="l">
              <a:defRPr sz="2900">
                <a:solidFill>
                  <a:srgbClr val="000000"/>
                </a:solidFill>
                <a:latin typeface="Helvetica Neue"/>
                <a:ea typeface="Helvetica Neue"/>
                <a:cs typeface="Helvetica Neue"/>
              </a:defRPr>
            </a:defPPr>
          </a:lstStyle>
          <a:p xmlns:a="http://schemas.openxmlformats.org/drawingml/2006/main">
            <a:pPr algn="l">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References: principal decisions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Eligibility and appointment</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TRF Ltd. v. Energo Engineering Projects Ltd. (2017) 8 SCC 377</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HRD Corporation v. GAIL (India) Ltd. (2018) 12 SCC 471</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Bharat Broadband v. United Telecoms Ltd. (2019) 5 SCC 755</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Perkins Eastman v. HSCC (India) Ltd. (2020) 20 SCC 760</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1800"/>
              </a:spcAft>
              <a:buNone/>
              <a:defRPr sz="1600">
                <a:solidFill>
                  <a:srgbClr val="000000"/>
                </a:solidFill>
                <a:latin typeface="Helvetica Neue"/>
                <a:ea typeface="Helvetica Neue"/>
                <a:cs typeface="Helvetica Neue"/>
              </a:defRPr>
            </a:pPr>
            <a:r>
              <a:rPr sz="2400">
                <a:latin typeface="Helvetica Neue"/>
                <a:ea typeface="Helvetica Neue"/>
                <a:cs typeface="Helvetica Neue"/>
              </a:rPr>
              <a:t>Panels and equal treatment</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Voestalpine Schienen GmbH v. DMRC Ltd. (2017) 4 SCC 665</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CORE v. ECI-SPIC-SMO-MCML (JV) (2020) 14 SCC 712</a:t>
            </a:r>
          </a:p>
          <a:p xmlns:a="http://schemas.openxmlformats.org/drawingml/2006/main">
            <a:pPr marL="0" indent="0" algn="l">
              <a:lnSpc>
                <a:spcPct val="114000"/>
              </a:lnSpc>
              <a:spcBef>
                <a:spcPts val="0"/>
              </a:spcBef>
              <a:spcAft>
                <a:spcPts val="1000"/>
              </a:spcAft>
              <a:buNone/>
              <a:defRPr sz="1600">
                <a:solidFill>
                  <a:srgbClr val="000000"/>
                </a:solidFill>
                <a:latin typeface="Helvetica Neue"/>
                <a:ea typeface="Helvetica Neue"/>
                <a:cs typeface="Helvetica Neue"/>
              </a:defRPr>
            </a:pPr>
            <a:r>
              <a:rPr sz="1600">
                <a:latin typeface="Helvetica Neue"/>
                <a:ea typeface="Helvetica Neue"/>
                <a:cs typeface="Helvetica Neue"/>
              </a:rPr>
              <a:t>CORE v. ECI-SPIC-SMO-MCML (JV), 2024 INSC 857</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2026-10-14T13:58:03.6270000Z</dcterms:created>
  <dcterms:modified xsi:type="dcterms:W3CDTF">2026-10-14T13:58:03.6270000Z</dcterms:modified>
</coreProperties>
</file>